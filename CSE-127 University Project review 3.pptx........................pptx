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heme/themeOverride1.xml" ContentType="application/vnd.openxmlformats-officedocument.themeOverr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9"/>
  </p:notesMasterIdLst>
  <p:sldIdLst>
    <p:sldId id="256" r:id="rId2"/>
    <p:sldId id="257" r:id="rId3"/>
    <p:sldId id="280" r:id="rId4"/>
    <p:sldId id="290" r:id="rId5"/>
    <p:sldId id="286" r:id="rId6"/>
    <p:sldId id="287" r:id="rId7"/>
    <p:sldId id="279" r:id="rId8"/>
    <p:sldId id="282" r:id="rId9"/>
    <p:sldId id="276" r:id="rId10"/>
    <p:sldId id="283" r:id="rId11"/>
    <p:sldId id="285" r:id="rId12"/>
    <p:sldId id="284" r:id="rId13"/>
    <p:sldId id="272" r:id="rId14"/>
    <p:sldId id="270" r:id="rId15"/>
    <p:sldId id="288" r:id="rId16"/>
    <p:sldId id="289" r:id="rId17"/>
    <p:sldId id="26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38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E65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8" d="100"/>
          <a:sy n="78" d="100"/>
        </p:scale>
        <p:origin x="850" y="77"/>
      </p:cViewPr>
      <p:guideLst>
        <p:guide orient="horz" pos="2160"/>
        <p:guide pos="387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89445482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t>‹#›</a:t>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file:///C:\Users\venna\AppData\Local\Packages\5319275A.WhatsAppDesktop_cv1g1gvanyjgm\LocalState\sessions\B60977CD4E4CEB09261A63934F182606571305AA\transfers\2026-06\Yelahanka_Rajankunte_Dibbur_Paddy_Dataset.xlsx"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8" y="1069102"/>
            <a:ext cx="10715731" cy="785750"/>
          </a:xfrm>
          <a:prstGeom prst="rect">
            <a:avLst/>
          </a:prstGeom>
          <a:noFill/>
          <a:ln>
            <a:noFill/>
          </a:ln>
        </p:spPr>
        <p:txBody>
          <a:bodyPr spcFirstLastPara="1" wrap="square" lIns="91425" tIns="45700" rIns="91425" bIns="45700" anchor="ctr" anchorCtr="0">
            <a:noAutofit/>
          </a:bodyPr>
          <a:lstStyle/>
          <a:p>
            <a:pPr lvl="0" algn="ctr"/>
            <a:r>
              <a:rPr lang="en-US" altLang="en-US"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Enhancing farmer productivity through innovative technology solutions</a:t>
            </a:r>
          </a:p>
        </p:txBody>
      </p:sp>
      <p:sp>
        <p:nvSpPr>
          <p:cNvPr id="88" name="Google Shape;88;p13"/>
          <p:cNvSpPr txBox="1">
            <a:spLocks noGrp="1"/>
          </p:cNvSpPr>
          <p:nvPr>
            <p:ph type="subTitle" idx="1"/>
          </p:nvPr>
        </p:nvSpPr>
        <p:spPr>
          <a:xfrm>
            <a:off x="790468" y="2230980"/>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a:t>
            </a:r>
            <a:r>
              <a:rPr lang="en-GB" sz="1800" dirty="0">
                <a:solidFill>
                  <a:schemeClr val="tx1"/>
                </a:solidFill>
                <a:latin typeface="Cambria" panose="02040503050406030204" pitchFamily="18" charset="0"/>
                <a:ea typeface="Cambria" panose="02040503050406030204" pitchFamily="18" charset="0"/>
              </a:rPr>
              <a:t>CSE_</a:t>
            </a:r>
            <a:r>
              <a:rPr lang="en-IN" sz="1800" dirty="0">
                <a:solidFill>
                  <a:schemeClr val="tx1"/>
                </a:solidFill>
                <a:latin typeface="Cambria" panose="02040503050406030204" pitchFamily="18" charset="0"/>
                <a:ea typeface="Cambria" panose="02040503050406030204" pitchFamily="18" charset="0"/>
              </a:rPr>
              <a:t>127</a:t>
            </a:r>
            <a:endParaRPr lang="en-IN" altLang="en-GB" sz="1800" dirty="0">
              <a:solidFill>
                <a:schemeClr val="tx1"/>
              </a:solidFill>
              <a:latin typeface="Cambria" panose="02040503050406030204" pitchFamily="18" charset="0"/>
              <a:ea typeface="Cambria" panose="02040503050406030204" pitchFamily="18" charset="0"/>
            </a:endParaRPr>
          </a:p>
        </p:txBody>
      </p:sp>
      <p:sp>
        <p:nvSpPr>
          <p:cNvPr id="90" name="Google Shape;90;p13"/>
          <p:cNvSpPr txBox="1"/>
          <p:nvPr/>
        </p:nvSpPr>
        <p:spPr>
          <a:xfrm>
            <a:off x="6480194" y="2507130"/>
            <a:ext cx="5542087" cy="17691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lvl="0" algn="ctr">
              <a:spcBef>
                <a:spcPts val="340"/>
              </a:spcBef>
              <a:buClr>
                <a:srgbClr val="17365D"/>
              </a:buClr>
              <a:buSzPts val="1700"/>
            </a:pPr>
            <a:r>
              <a:rPr lang="en-GB" sz="17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altLang="en-US" sz="17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Ms. Bhuvaneshwari Patil</a:t>
            </a:r>
          </a:p>
          <a:p>
            <a:pPr lvl="0" algn="ctr">
              <a:spcBef>
                <a:spcPts val="340"/>
              </a:spcBef>
              <a:buClr>
                <a:srgbClr val="17365D"/>
              </a:buClr>
              <a:buSzPts val="1700"/>
            </a:pPr>
            <a:r>
              <a:rPr lang="en-GB" sz="17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(Computer Science and Engineering)</a:t>
            </a:r>
          </a:p>
          <a:p>
            <a:pPr lvl="0" algn="ctr">
              <a:spcBef>
                <a:spcPts val="340"/>
              </a:spcBef>
              <a:buClr>
                <a:srgbClr val="17365D"/>
              </a:buClr>
              <a:buSzPts val="1700"/>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lvl="0" algn="ctr">
              <a:buClr>
                <a:srgbClr val="17365D"/>
              </a:buClr>
              <a:buSzPct val="100000"/>
            </a:pPr>
            <a:r>
              <a:rPr lang="en-IN" sz="1800" b="1" dirty="0">
                <a:solidFill>
                  <a:schemeClr val="bg2">
                    <a:lumMod val="75000"/>
                  </a:schemeClr>
                </a:solidFill>
                <a:latin typeface="Cambria" panose="02040503050406030204" pitchFamily="18" charset="0"/>
                <a:ea typeface="Cambria" panose="02040503050406030204" pitchFamily="18" charset="0"/>
              </a:rPr>
              <a:t>CSE7302</a:t>
            </a:r>
            <a:r>
              <a:rPr lang="en-IN" sz="1800" dirty="0"/>
              <a:t> </a:t>
            </a:r>
            <a:r>
              <a:rPr lang="en-GB" sz="18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t>
            </a: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a:t>
            </a:r>
            <a:r>
              <a:rPr lang="en-GB" sz="1800" b="1" i="0" u="none" strike="noStrike" cap="none" dirty="0">
                <a:solidFill>
                  <a:schemeClr val="bg2">
                    <a:lumMod val="75000"/>
                  </a:schemeClr>
                </a:solidFill>
                <a:latin typeface="Cambria" panose="02040503050406030204" pitchFamily="18" charset="0"/>
                <a:ea typeface="Cambria" panose="02040503050406030204" pitchFamily="18" charset="0"/>
                <a:cs typeface="Verdana" panose="020B0604030504040204"/>
                <a:sym typeface="Verdana" panose="020B0604030504040204"/>
              </a:rPr>
              <a:t>Capstone</a:t>
            </a: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Review-3</a:t>
            </a:r>
            <a:endParaRPr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790468" y="4533900"/>
            <a:ext cx="10715731"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CSE 7101 Capstone Project </a:t>
            </a:r>
            <a:r>
              <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Semester VIII) </a:t>
            </a:r>
          </a:p>
          <a:p>
            <a:pPr marL="0" marR="0" lvl="0" indent="0" rtl="0">
              <a:spcBef>
                <a:spcPts val="0"/>
              </a:spcBef>
              <a:spcAft>
                <a:spcPts val="0"/>
              </a:spcAft>
              <a:buClr>
                <a:srgbClr val="17365D"/>
              </a:buClr>
              <a:buSzPct val="100000"/>
              <a:buFont typeface="Arial" panose="020B0604020202020204"/>
              <a:buNone/>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Asif Mohammed</a:t>
            </a:r>
            <a:endParaRPr lang="en-US" sz="1800" b="1" dirty="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Project Coordinator: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Jayavadivel Ravi</a:t>
            </a:r>
            <a:endParaRPr lang="en-US" sz="1800" b="1" dirty="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Sampath A K , Dr. Geetha A </a:t>
            </a:r>
          </a:p>
        </p:txBody>
      </p:sp>
      <p:graphicFrame>
        <p:nvGraphicFramePr>
          <p:cNvPr id="2" name="Table 1"/>
          <p:cNvGraphicFramePr>
            <a:graphicFrameLocks noGrp="1"/>
          </p:cNvGraphicFramePr>
          <p:nvPr>
            <p:extLst>
              <p:ext uri="{D42A27DB-BD31-4B8C-83A1-F6EECF244321}">
                <p14:modId xmlns:p14="http://schemas.microsoft.com/office/powerpoint/2010/main" val="2607356349"/>
              </p:ext>
            </p:extLst>
          </p:nvPr>
        </p:nvGraphicFramePr>
        <p:xfrm>
          <a:off x="790467" y="2710470"/>
          <a:ext cx="5689727" cy="1668780"/>
        </p:xfrm>
        <a:graphic>
          <a:graphicData uri="http://schemas.openxmlformats.org/drawingml/2006/table">
            <a:tbl>
              <a:tblPr firstRow="1" bandRow="1">
                <a:tableStyleId>{3C2FFA5D-87B4-456A-9821-1D502468CF0F}</a:tableStyleId>
              </a:tblPr>
              <a:tblGrid>
                <a:gridCol w="2464534">
                  <a:extLst>
                    <a:ext uri="{9D8B030D-6E8A-4147-A177-3AD203B41FA5}">
                      <a16:colId xmlns:a16="http://schemas.microsoft.com/office/drawing/2014/main" val="20000"/>
                    </a:ext>
                  </a:extLst>
                </a:gridCol>
                <a:gridCol w="3225193">
                  <a:extLst>
                    <a:ext uri="{9D8B030D-6E8A-4147-A177-3AD203B41FA5}">
                      <a16:colId xmlns:a16="http://schemas.microsoft.com/office/drawing/2014/main" val="20001"/>
                    </a:ext>
                  </a:extLst>
                </a:gridCol>
              </a:tblGrid>
              <a:tr h="37592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GB" sz="1600" b="1" u="none" strike="noStrike" cap="none" dirty="0">
                          <a:solidFill>
                            <a:srgbClr val="17365D"/>
                          </a:solidFill>
                        </a:rPr>
                        <a:t>Roll Number</a:t>
                      </a:r>
                    </a:p>
                  </a:txBody>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panose="020B0604020202020204"/>
                        <a:buNone/>
                        <a:tabLst/>
                        <a:defRPr/>
                      </a:pPr>
                      <a:r>
                        <a:rPr lang="en-GB" sz="1600" b="1" u="none" strike="noStrike" cap="none" dirty="0">
                          <a:solidFill>
                            <a:srgbClr val="17365D"/>
                          </a:solidFill>
                        </a:rPr>
                        <a:t>Student Name</a:t>
                      </a:r>
                    </a:p>
                    <a:p>
                      <a:pPr algn="l" fontAlgn="ctr">
                        <a:buNone/>
                      </a:pPr>
                      <a:endParaRPr lang="en-US" altLang="en-US" sz="1600" b="0" i="0" u="none" strike="noStrike" dirty="0">
                        <a:solidFill>
                          <a:srgbClr val="000000"/>
                        </a:solidFill>
                        <a:effectLst/>
                        <a:latin typeface="Cambria" panose="02040503050406030204" pitchFamily="18" charset="0"/>
                        <a:ea typeface="Cambria" panose="02040503050406030204" pitchFamily="18" charset="0"/>
                      </a:endParaRPr>
                    </a:p>
                  </a:txBody>
                  <a:tcPr marL="7620" marR="7620" marT="7620" anchor="ctr"/>
                </a:tc>
                <a:extLst>
                  <a:ext uri="{0D108BD9-81ED-4DB2-BD59-A6C34878D82A}">
                    <a16:rowId xmlns:a16="http://schemas.microsoft.com/office/drawing/2014/main" val="2042904910"/>
                  </a:ext>
                </a:extLst>
              </a:tr>
              <a:tr h="375920">
                <a:tc>
                  <a:txBody>
                    <a:bodyPr/>
                    <a:lstStyle/>
                    <a:p>
                      <a:r>
                        <a:rPr lang="en-IN" sz="1600" dirty="0"/>
                        <a:t>20221CSE0411</a:t>
                      </a:r>
                      <a:endParaRPr lang="en-IN" sz="1600" dirty="0">
                        <a:latin typeface="Cambria" panose="02040503050406030204" pitchFamily="18" charset="0"/>
                        <a:ea typeface="Cambria" panose="02040503050406030204" pitchFamily="18" charset="0"/>
                      </a:endParaRPr>
                    </a:p>
                  </a:txBody>
                  <a:tcPr/>
                </a:tc>
                <a:tc>
                  <a:txBody>
                    <a:bodyPr/>
                    <a:lstStyle/>
                    <a:p>
                      <a:pPr algn="l" fontAlgn="ctr">
                        <a:buNone/>
                      </a:pPr>
                      <a:r>
                        <a:rPr lang="en-US" altLang="en-US" sz="1600" b="0" u="none" strike="noStrike" dirty="0">
                          <a:solidFill>
                            <a:srgbClr val="000000"/>
                          </a:solidFill>
                          <a:effectLst/>
                        </a:rPr>
                        <a:t>  C. Chand Basha</a:t>
                      </a:r>
                      <a:endParaRPr lang="en-US" altLang="en-US" sz="1600" b="0" i="0" u="none" strike="noStrike" dirty="0">
                        <a:solidFill>
                          <a:srgbClr val="000000"/>
                        </a:solidFill>
                        <a:effectLst/>
                        <a:latin typeface="Cambria" panose="02040503050406030204" pitchFamily="18" charset="0"/>
                        <a:ea typeface="Cambria" panose="02040503050406030204" pitchFamily="18" charset="0"/>
                      </a:endParaRPr>
                    </a:p>
                  </a:txBody>
                  <a:tcPr marL="7620" marR="7620" marT="7620" anchor="ctr"/>
                </a:tc>
                <a:extLst>
                  <a:ext uri="{0D108BD9-81ED-4DB2-BD59-A6C34878D82A}">
                    <a16:rowId xmlns:a16="http://schemas.microsoft.com/office/drawing/2014/main" val="10000"/>
                  </a:ext>
                </a:extLst>
              </a:tr>
              <a:tr h="375920">
                <a:tc>
                  <a:txBody>
                    <a:bodyPr/>
                    <a:lstStyle/>
                    <a:p>
                      <a:r>
                        <a:rPr lang="en-IN" sz="1600" dirty="0"/>
                        <a:t>20221CSE0400</a:t>
                      </a:r>
                      <a:endParaRPr lang="en-IN" sz="1600" dirty="0">
                        <a:latin typeface="Cambria" panose="02040503050406030204" pitchFamily="18" charset="0"/>
                        <a:ea typeface="Cambria" panose="02040503050406030204" pitchFamily="18" charset="0"/>
                      </a:endParaRPr>
                    </a:p>
                  </a:txBody>
                  <a:tcPr/>
                </a:tc>
                <a:tc>
                  <a:txBody>
                    <a:bodyPr/>
                    <a:lstStyle/>
                    <a:p>
                      <a:pPr algn="l"/>
                      <a:r>
                        <a:rPr lang="en-US" altLang="en-US" sz="1600" dirty="0">
                          <a:latin typeface="Cambria" panose="02040503050406030204" pitchFamily="18" charset="0"/>
                          <a:ea typeface="Cambria" panose="02040503050406030204" pitchFamily="18" charset="0"/>
                        </a:rPr>
                        <a:t> V. Dinesh Reddy </a:t>
                      </a:r>
                    </a:p>
                  </a:txBody>
                  <a:tcPr/>
                </a:tc>
                <a:extLst>
                  <a:ext uri="{0D108BD9-81ED-4DB2-BD59-A6C34878D82A}">
                    <a16:rowId xmlns:a16="http://schemas.microsoft.com/office/drawing/2014/main" val="10001"/>
                  </a:ext>
                </a:extLst>
              </a:tr>
              <a:tr h="375920">
                <a:tc>
                  <a:txBody>
                    <a:bodyPr/>
                    <a:lstStyle/>
                    <a:p>
                      <a:r>
                        <a:rPr lang="en-IN" sz="1600" dirty="0"/>
                        <a:t>20221CSE0408</a:t>
                      </a:r>
                      <a:endParaRPr lang="en-IN" sz="1600" dirty="0">
                        <a:latin typeface="Cambria" panose="02040503050406030204" pitchFamily="18" charset="0"/>
                        <a:ea typeface="Cambria" panose="02040503050406030204" pitchFamily="18" charset="0"/>
                      </a:endParaRPr>
                    </a:p>
                  </a:txBody>
                  <a:tcPr/>
                </a:tc>
                <a:tc>
                  <a:txBody>
                    <a:bodyPr/>
                    <a:lstStyle/>
                    <a:p>
                      <a:pPr algn="l"/>
                      <a:r>
                        <a:rPr lang="en-US" sz="1600" dirty="0">
                          <a:latin typeface="Cambria" panose="02040503050406030204" pitchFamily="18" charset="0"/>
                          <a:ea typeface="Cambria" panose="02040503050406030204" pitchFamily="18" charset="0"/>
                        </a:rPr>
                        <a:t> </a:t>
                      </a:r>
                      <a:r>
                        <a:rPr lang="en-IN" sz="1600" dirty="0">
                          <a:latin typeface="Cambria" panose="02040503050406030204" pitchFamily="18" charset="0"/>
                          <a:ea typeface="Cambria" panose="02040503050406030204" pitchFamily="18" charset="0"/>
                        </a:rPr>
                        <a:t>P. Abhisekhar Reddy</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IN" dirty="0">
                <a:latin typeface="Times New Roman" panose="02020603050405020304" pitchFamily="18" charset="0"/>
                <a:ea typeface="Cambria" panose="02040503050406030204" pitchFamily="18" charset="0"/>
                <a:cs typeface="Times New Roman" panose="02020603050405020304" pitchFamily="18" charset="0"/>
              </a:rPr>
              <a:t>CONTENT</a:t>
            </a: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85000" lnSpcReduction="20000"/>
          </a:bodyPr>
          <a:lstStyle/>
          <a:p>
            <a:r>
              <a:rPr lang="en-US" dirty="0">
                <a:latin typeface="Times New Roman" panose="02020603050405020304" pitchFamily="18" charset="0"/>
                <a:cs typeface="Times New Roman" panose="02020603050405020304" pitchFamily="18" charset="0"/>
              </a:rPr>
              <a:t>ABSTRACT</a:t>
            </a:r>
          </a:p>
          <a:p>
            <a:r>
              <a:rPr lang="en-US" dirty="0">
                <a:latin typeface="Times New Roman" panose="02020603050405020304" pitchFamily="18" charset="0"/>
                <a:cs typeface="Times New Roman" panose="02020603050405020304" pitchFamily="18" charset="0"/>
              </a:rPr>
              <a:t>PROBLEM STATEMENT</a:t>
            </a:r>
          </a:p>
          <a:p>
            <a:r>
              <a:rPr lang="en-US" dirty="0">
                <a:latin typeface="Times New Roman" panose="02020603050405020304" pitchFamily="18" charset="0"/>
                <a:cs typeface="Times New Roman" panose="02020603050405020304" pitchFamily="18" charset="0"/>
              </a:rPr>
              <a:t>LITERATURE SURVEY</a:t>
            </a:r>
          </a:p>
          <a:p>
            <a:r>
              <a:rPr lang="en-US" dirty="0">
                <a:latin typeface="Times New Roman" panose="02020603050405020304" pitchFamily="18" charset="0"/>
                <a:cs typeface="Times New Roman" panose="02020603050405020304" pitchFamily="18" charset="0"/>
              </a:rPr>
              <a:t>OBJECTIVES</a:t>
            </a:r>
          </a:p>
          <a:p>
            <a:r>
              <a:rPr lang="en-US" dirty="0">
                <a:latin typeface="Times New Roman" panose="02020603050405020304" pitchFamily="18" charset="0"/>
                <a:cs typeface="Times New Roman" panose="02020603050405020304" pitchFamily="18" charset="0"/>
              </a:rPr>
              <a:t>METHODOLOGY</a:t>
            </a:r>
          </a:p>
          <a:p>
            <a:r>
              <a:rPr lang="en-US" dirty="0">
                <a:latin typeface="Times New Roman" panose="02020603050405020304" pitchFamily="18" charset="0"/>
                <a:cs typeface="Times New Roman" panose="02020603050405020304" pitchFamily="18" charset="0"/>
              </a:rPr>
              <a:t>EXISTING METHODS AND DRAWBACKS</a:t>
            </a:r>
          </a:p>
          <a:p>
            <a:r>
              <a:rPr lang="en-US" dirty="0">
                <a:latin typeface="Times New Roman" panose="02020603050405020304" pitchFamily="18" charset="0"/>
                <a:cs typeface="Times New Roman" panose="02020603050405020304" pitchFamily="18" charset="0"/>
              </a:rPr>
              <a:t>PROPOSED METHODS AND FEASIBILITY STUDY</a:t>
            </a:r>
          </a:p>
          <a:p>
            <a:r>
              <a:rPr lang="en-US" dirty="0">
                <a:latin typeface="Times New Roman" panose="02020603050405020304" pitchFamily="18" charset="0"/>
                <a:cs typeface="Times New Roman" panose="02020603050405020304" pitchFamily="18" charset="0"/>
              </a:rPr>
              <a:t>ARCHITECTURE DIAGRAM</a:t>
            </a:r>
          </a:p>
          <a:p>
            <a:r>
              <a:rPr lang="en-US" dirty="0">
                <a:latin typeface="Times New Roman" panose="02020603050405020304" pitchFamily="18" charset="0"/>
                <a:cs typeface="Times New Roman" panose="02020603050405020304" pitchFamily="18" charset="0"/>
              </a:rPr>
              <a:t>MODULES</a:t>
            </a:r>
          </a:p>
          <a:p>
            <a:r>
              <a:rPr lang="en-US" dirty="0">
                <a:latin typeface="Times New Roman" panose="02020603050405020304" pitchFamily="18" charset="0"/>
                <a:cs typeface="Times New Roman" panose="02020603050405020304" pitchFamily="18" charset="0"/>
              </a:rPr>
              <a:t>HARDWARE AND SOFTWARE DETAILS</a:t>
            </a:r>
          </a:p>
          <a:p>
            <a:r>
              <a:rPr lang="en-US" dirty="0">
                <a:latin typeface="Times New Roman" panose="02020603050405020304" pitchFamily="18" charset="0"/>
                <a:cs typeface="Times New Roman" panose="02020603050405020304" pitchFamily="18" charset="0"/>
              </a:rPr>
              <a:t>TIMELINE</a:t>
            </a:r>
          </a:p>
          <a:p>
            <a:r>
              <a:rPr lang="en-US" dirty="0">
                <a:latin typeface="Times New Roman" panose="02020603050405020304" pitchFamily="18" charset="0"/>
                <a:cs typeface="Times New Roman" panose="02020603050405020304" pitchFamily="18" charset="0"/>
              </a:rPr>
              <a:t>REFERENCE</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ABSTRACT</a:t>
            </a:r>
            <a:endParaRPr lang="en-US" b="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737118" y="1045029"/>
            <a:ext cx="10743682" cy="5050972"/>
          </a:xfrm>
        </p:spPr>
        <p:txBody>
          <a:bodyPr>
            <a:normAutofit fontScale="92500" lnSpcReduction="10000"/>
          </a:bodyPr>
          <a:lstStyle/>
          <a:p>
            <a:pPr marL="76200" indent="0">
              <a:buNone/>
            </a:pPr>
            <a:r>
              <a:rPr lang="en-US" sz="3900" dirty="0">
                <a:latin typeface="Bahnschrift Light Condensed" panose="020B0502040204020203" pitchFamily="34" charset="0"/>
                <a:cs typeface="Times New Roman" panose="02020603050405020304" pitchFamily="18" charset="0"/>
              </a:rPr>
              <a:t>A</a:t>
            </a:r>
            <a:r>
              <a:rPr lang="en-US" dirty="0">
                <a:latin typeface="Times New Roman" panose="02020603050405020304" pitchFamily="18" charset="0"/>
                <a:cs typeface="Times New Roman" panose="02020603050405020304" pitchFamily="18" charset="0"/>
              </a:rPr>
              <a:t>griculture is a key sector that directly impacts food security and economic development.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However, farmers often face challenges such as climate uncertainty, inefficient farming practices, and limited access to timely information.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project, </a:t>
            </a:r>
            <a:r>
              <a:rPr lang="en-US" b="1" dirty="0">
                <a:latin typeface="Times New Roman" panose="02020603050405020304" pitchFamily="18" charset="0"/>
                <a:cs typeface="Times New Roman" panose="02020603050405020304" pitchFamily="18" charset="0"/>
              </a:rPr>
              <a:t>“Enhancing Farmer Productivity through Innovative Technology Solutions,”</a:t>
            </a:r>
            <a:r>
              <a:rPr lang="en-US" dirty="0">
                <a:latin typeface="Times New Roman" panose="02020603050405020304" pitchFamily="18" charset="0"/>
                <a:cs typeface="Times New Roman" panose="02020603050405020304" pitchFamily="18" charset="0"/>
              </a:rPr>
              <a:t> aims to address these challenges using modern digital technologies.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system integrates data from weather forecasts, soil conditions, and crop requirements to support smart decision-making.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It provides crop recommendations, optimized irrigation planning, and early alerts for potential risks.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By using data analytics and automation, the solution helps reduce resource wastage and operational costs.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proposed approach improves crop yield, enhances farm efficiency, and supports sustainable agriculture.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Overall, this project empowers farmers with technology-driven insights for better productivity and long-term growth.</a:t>
            </a:r>
          </a:p>
          <a:p>
            <a:pPr marL="76200" indent="0">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BD11A-8E1E-A381-98A2-3348F9373B2F}"/>
              </a:ext>
            </a:extLst>
          </p:cNvPr>
          <p:cNvSpPr>
            <a:spLocks noGrp="1"/>
          </p:cNvSpPr>
          <p:nvPr>
            <p:ph type="title"/>
          </p:nvPr>
        </p:nvSpPr>
        <p:spPr/>
        <p:txBody>
          <a:bodyPr/>
          <a:lstStyle/>
          <a:p>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PROBLEM STATEMENT</a:t>
            </a:r>
            <a:br>
              <a:rPr lang="en-US" dirty="0">
                <a:latin typeface="Times New Roman" panose="02020603050405020304" pitchFamily="18" charset="0"/>
                <a:cs typeface="Times New Roman" panose="02020603050405020304" pitchFamily="18" charset="0"/>
              </a:rPr>
            </a:br>
            <a:endParaRPr lang="en-IN" dirty="0"/>
          </a:p>
        </p:txBody>
      </p:sp>
      <p:sp>
        <p:nvSpPr>
          <p:cNvPr id="3" name="Text Placeholder 2">
            <a:extLst>
              <a:ext uri="{FF2B5EF4-FFF2-40B4-BE49-F238E27FC236}">
                <a16:creationId xmlns:a16="http://schemas.microsoft.com/office/drawing/2014/main" id="{45502FDB-596C-544B-6D7F-05C95E7E0B02}"/>
              </a:ext>
            </a:extLst>
          </p:cNvPr>
          <p:cNvSpPr>
            <a:spLocks noGrp="1"/>
          </p:cNvSpPr>
          <p:nvPr>
            <p:ph type="body" idx="1"/>
          </p:nvPr>
        </p:nvSpPr>
        <p:spPr/>
        <p:txBody>
          <a:bodyPr/>
          <a:lstStyle/>
          <a:p>
            <a:r>
              <a:rPr lang="en-US" dirty="0"/>
              <a:t>Farmers face challenges in making timely and accurate decisions related to crop selection, irrigation, and pest management due to lack of reliable information.</a:t>
            </a:r>
          </a:p>
          <a:p>
            <a:r>
              <a:rPr lang="en-US" dirty="0"/>
              <a:t>Traditional farming practices rely on experience and guesswork, leading to low productivity, higher input costs, and crop losses.</a:t>
            </a:r>
          </a:p>
          <a:p>
            <a:r>
              <a:rPr lang="en-US" dirty="0"/>
              <a:t>A data-driven, Al-enabled system can provide smart recommendations, improve farm efficiency, and increase farmer income sustainably</a:t>
            </a:r>
            <a:endParaRPr lang="en-IN" dirty="0"/>
          </a:p>
        </p:txBody>
      </p:sp>
    </p:spTree>
    <p:extLst>
      <p:ext uri="{BB962C8B-B14F-4D97-AF65-F5344CB8AC3E}">
        <p14:creationId xmlns:p14="http://schemas.microsoft.com/office/powerpoint/2010/main" val="2935393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4" name="Table 3">
            <a:extLst>
              <a:ext uri="{FF2B5EF4-FFF2-40B4-BE49-F238E27FC236}">
                <a16:creationId xmlns:a16="http://schemas.microsoft.com/office/drawing/2014/main" id="{2306382E-2FFE-435C-C816-2E04B38532E9}"/>
              </a:ext>
            </a:extLst>
          </p:cNvPr>
          <p:cNvGraphicFramePr>
            <a:graphicFrameLocks noGrp="1"/>
          </p:cNvGraphicFramePr>
          <p:nvPr>
            <p:extLst>
              <p:ext uri="{D42A27DB-BD31-4B8C-83A1-F6EECF244321}">
                <p14:modId xmlns:p14="http://schemas.microsoft.com/office/powerpoint/2010/main" val="3705396439"/>
              </p:ext>
            </p:extLst>
          </p:nvPr>
        </p:nvGraphicFramePr>
        <p:xfrm>
          <a:off x="812794" y="1143000"/>
          <a:ext cx="10667999" cy="4849690"/>
        </p:xfrm>
        <a:graphic>
          <a:graphicData uri="http://schemas.openxmlformats.org/drawingml/2006/table">
            <a:tbl>
              <a:tblPr>
                <a:tableStyleId>{3C2FFA5D-87B4-456A-9821-1D502468CF0F}</a:tableStyleId>
              </a:tblPr>
              <a:tblGrid>
                <a:gridCol w="820103">
                  <a:extLst>
                    <a:ext uri="{9D8B030D-6E8A-4147-A177-3AD203B41FA5}">
                      <a16:colId xmlns:a16="http://schemas.microsoft.com/office/drawing/2014/main" val="3917271555"/>
                    </a:ext>
                  </a:extLst>
                </a:gridCol>
                <a:gridCol w="2103361">
                  <a:extLst>
                    <a:ext uri="{9D8B030D-6E8A-4147-A177-3AD203B41FA5}">
                      <a16:colId xmlns:a16="http://schemas.microsoft.com/office/drawing/2014/main" val="2869014977"/>
                    </a:ext>
                  </a:extLst>
                </a:gridCol>
                <a:gridCol w="1661652">
                  <a:extLst>
                    <a:ext uri="{9D8B030D-6E8A-4147-A177-3AD203B41FA5}">
                      <a16:colId xmlns:a16="http://schemas.microsoft.com/office/drawing/2014/main" val="651265965"/>
                    </a:ext>
                  </a:extLst>
                </a:gridCol>
                <a:gridCol w="2349908">
                  <a:extLst>
                    <a:ext uri="{9D8B030D-6E8A-4147-A177-3AD203B41FA5}">
                      <a16:colId xmlns:a16="http://schemas.microsoft.com/office/drawing/2014/main" val="2298453339"/>
                    </a:ext>
                  </a:extLst>
                </a:gridCol>
                <a:gridCol w="1954975">
                  <a:extLst>
                    <a:ext uri="{9D8B030D-6E8A-4147-A177-3AD203B41FA5}">
                      <a16:colId xmlns:a16="http://schemas.microsoft.com/office/drawing/2014/main" val="2994627442"/>
                    </a:ext>
                  </a:extLst>
                </a:gridCol>
                <a:gridCol w="1778000">
                  <a:extLst>
                    <a:ext uri="{9D8B030D-6E8A-4147-A177-3AD203B41FA5}">
                      <a16:colId xmlns:a16="http://schemas.microsoft.com/office/drawing/2014/main" val="1463587317"/>
                    </a:ext>
                  </a:extLst>
                </a:gridCol>
              </a:tblGrid>
              <a:tr h="429388">
                <a:tc>
                  <a:txBody>
                    <a:bodyPr/>
                    <a:lstStyle/>
                    <a:p>
                      <a:pPr>
                        <a:buNone/>
                      </a:pPr>
                      <a:r>
                        <a:rPr lang="en-IN" sz="1200" dirty="0"/>
                        <a:t>No.</a:t>
                      </a:r>
                    </a:p>
                  </a:txBody>
                  <a:tcPr marL="68475" marR="68475" marT="34237" marB="34237" anchor="ctr"/>
                </a:tc>
                <a:tc>
                  <a:txBody>
                    <a:bodyPr/>
                    <a:lstStyle/>
                    <a:p>
                      <a:pPr>
                        <a:buNone/>
                      </a:pPr>
                      <a:r>
                        <a:rPr lang="en-IN" sz="1200" dirty="0"/>
                        <a:t>Paper Title</a:t>
                      </a:r>
                    </a:p>
                  </a:txBody>
                  <a:tcPr marL="68475" marR="68475" marT="34237" marB="34237" anchor="ctr"/>
                </a:tc>
                <a:tc>
                  <a:txBody>
                    <a:bodyPr/>
                    <a:lstStyle/>
                    <a:p>
                      <a:pPr>
                        <a:buNone/>
                      </a:pPr>
                      <a:r>
                        <a:rPr lang="en-IN" sz="1200"/>
                        <a:t>Authors &amp; Year</a:t>
                      </a:r>
                    </a:p>
                  </a:txBody>
                  <a:tcPr marL="68475" marR="68475" marT="34237" marB="34237" anchor="ctr"/>
                </a:tc>
                <a:tc>
                  <a:txBody>
                    <a:bodyPr/>
                    <a:lstStyle/>
                    <a:p>
                      <a:pPr>
                        <a:buNone/>
                      </a:pPr>
                      <a:r>
                        <a:rPr lang="en-IN" sz="1200"/>
                        <a:t>Key Findings / Contributions</a:t>
                      </a:r>
                    </a:p>
                  </a:txBody>
                  <a:tcPr marL="68475" marR="68475" marT="34237" marB="34237" anchor="ctr"/>
                </a:tc>
                <a:tc>
                  <a:txBody>
                    <a:bodyPr/>
                    <a:lstStyle/>
                    <a:p>
                      <a:pPr>
                        <a:buNone/>
                      </a:pPr>
                      <a:r>
                        <a:rPr lang="en-IN" sz="1200"/>
                        <a:t>Methodology / Technologies Used</a:t>
                      </a:r>
                    </a:p>
                  </a:txBody>
                  <a:tcPr marL="68475" marR="68475" marT="34237" marB="34237" anchor="ctr"/>
                </a:tc>
                <a:tc>
                  <a:txBody>
                    <a:bodyPr/>
                    <a:lstStyle/>
                    <a:p>
                      <a:pPr>
                        <a:buNone/>
                      </a:pPr>
                      <a:r>
                        <a:rPr lang="en-IN" sz="1200"/>
                        <a:t>Drawbacks / Research Gaps</a:t>
                      </a:r>
                    </a:p>
                  </a:txBody>
                  <a:tcPr marL="68475" marR="68475" marT="34237" marB="34237" anchor="ctr"/>
                </a:tc>
                <a:extLst>
                  <a:ext uri="{0D108BD9-81ED-4DB2-BD59-A6C34878D82A}">
                    <a16:rowId xmlns:a16="http://schemas.microsoft.com/office/drawing/2014/main" val="2712830225"/>
                  </a:ext>
                </a:extLst>
              </a:tr>
              <a:tr h="838938">
                <a:tc>
                  <a:txBody>
                    <a:bodyPr/>
                    <a:lstStyle/>
                    <a:p>
                      <a:pPr>
                        <a:buNone/>
                      </a:pPr>
                      <a:r>
                        <a:rPr lang="en-IN" sz="1200" dirty="0"/>
                        <a:t>1</a:t>
                      </a:r>
                    </a:p>
                  </a:txBody>
                  <a:tcPr marL="68475" marR="68475" marT="34237" marB="34237" anchor="ctr"/>
                </a:tc>
                <a:tc>
                  <a:txBody>
                    <a:bodyPr/>
                    <a:lstStyle/>
                    <a:p>
                      <a:pPr>
                        <a:buNone/>
                      </a:pPr>
                      <a:r>
                        <a:rPr lang="en-US" sz="1200" dirty="0"/>
                        <a:t>IoT-based Smart Agriculture Monitoring System</a:t>
                      </a:r>
                    </a:p>
                  </a:txBody>
                  <a:tcPr marL="68475" marR="68475" marT="34237" marB="34237" anchor="ctr"/>
                </a:tc>
                <a:tc>
                  <a:txBody>
                    <a:bodyPr/>
                    <a:lstStyle/>
                    <a:p>
                      <a:pPr>
                        <a:buNone/>
                      </a:pPr>
                      <a:r>
                        <a:rPr lang="en-IN" sz="1200"/>
                        <a:t>Sharma et al., 2022</a:t>
                      </a:r>
                    </a:p>
                  </a:txBody>
                  <a:tcPr marL="68475" marR="68475" marT="34237" marB="34237" anchor="ctr"/>
                </a:tc>
                <a:tc>
                  <a:txBody>
                    <a:bodyPr/>
                    <a:lstStyle/>
                    <a:p>
                      <a:pPr>
                        <a:buNone/>
                      </a:pPr>
                      <a:r>
                        <a:rPr lang="en-US" sz="1200"/>
                        <a:t>Developed an IoT system for real-time monitoring of soil and environmental conditions.</a:t>
                      </a:r>
                    </a:p>
                  </a:txBody>
                  <a:tcPr marL="68475" marR="68475" marT="34237" marB="34237" anchor="ctr"/>
                </a:tc>
                <a:tc>
                  <a:txBody>
                    <a:bodyPr/>
                    <a:lstStyle/>
                    <a:p>
                      <a:pPr>
                        <a:buNone/>
                      </a:pPr>
                      <a:r>
                        <a:rPr lang="en-IN" sz="1200"/>
                        <a:t>IoT sensors, cloud platform, wireless communication.</a:t>
                      </a:r>
                    </a:p>
                  </a:txBody>
                  <a:tcPr marL="68475" marR="68475" marT="34237" marB="34237" anchor="ctr"/>
                </a:tc>
                <a:tc>
                  <a:txBody>
                    <a:bodyPr/>
                    <a:lstStyle/>
                    <a:p>
                      <a:pPr>
                        <a:buNone/>
                      </a:pPr>
                      <a:r>
                        <a:rPr lang="en-US" sz="1200"/>
                        <a:t>Limited scalability; tested on small farms.</a:t>
                      </a:r>
                    </a:p>
                  </a:txBody>
                  <a:tcPr marL="68475" marR="68475" marT="34237" marB="34237" anchor="ctr"/>
                </a:tc>
                <a:extLst>
                  <a:ext uri="{0D108BD9-81ED-4DB2-BD59-A6C34878D82A}">
                    <a16:rowId xmlns:a16="http://schemas.microsoft.com/office/drawing/2014/main" val="3841099685"/>
                  </a:ext>
                </a:extLst>
              </a:tr>
              <a:tr h="684395">
                <a:tc>
                  <a:txBody>
                    <a:bodyPr/>
                    <a:lstStyle/>
                    <a:p>
                      <a:pPr>
                        <a:buNone/>
                      </a:pPr>
                      <a:r>
                        <a:rPr lang="en-IN" sz="1200"/>
                        <a:t>2</a:t>
                      </a:r>
                    </a:p>
                  </a:txBody>
                  <a:tcPr marL="68475" marR="68475" marT="34237" marB="34237" anchor="ctr"/>
                </a:tc>
                <a:tc>
                  <a:txBody>
                    <a:bodyPr/>
                    <a:lstStyle/>
                    <a:p>
                      <a:pPr>
                        <a:buNone/>
                      </a:pPr>
                      <a:r>
                        <a:rPr lang="en-US" sz="1200" dirty="0"/>
                        <a:t>Crop Suggestion Based on Soil Data</a:t>
                      </a:r>
                    </a:p>
                  </a:txBody>
                  <a:tcPr marL="68475" marR="68475" marT="34237" marB="34237" anchor="ctr"/>
                </a:tc>
                <a:tc>
                  <a:txBody>
                    <a:bodyPr/>
                    <a:lstStyle/>
                    <a:p>
                      <a:pPr>
                        <a:buNone/>
                      </a:pPr>
                      <a:r>
                        <a:rPr lang="en-IN" sz="1200" dirty="0"/>
                        <a:t>Patel &amp; Kumar, 2022</a:t>
                      </a:r>
                    </a:p>
                  </a:txBody>
                  <a:tcPr marL="68475" marR="68475" marT="34237" marB="34237" anchor="ctr"/>
                </a:tc>
                <a:tc>
                  <a:txBody>
                    <a:bodyPr/>
                    <a:lstStyle/>
                    <a:p>
                      <a:pPr>
                        <a:buNone/>
                      </a:pPr>
                      <a:r>
                        <a:rPr lang="en-US" sz="1200"/>
                        <a:t>Proposed crop recommendation system using soil data.</a:t>
                      </a:r>
                    </a:p>
                  </a:txBody>
                  <a:tcPr marL="68475" marR="68475" marT="34237" marB="34237" anchor="ctr"/>
                </a:tc>
                <a:tc>
                  <a:txBody>
                    <a:bodyPr/>
                    <a:lstStyle/>
                    <a:p>
                      <a:pPr>
                        <a:buNone/>
                      </a:pPr>
                      <a:r>
                        <a:rPr lang="en-US" sz="1200"/>
                        <a:t>Machine learning, soil data analysis.</a:t>
                      </a:r>
                    </a:p>
                  </a:txBody>
                  <a:tcPr marL="68475" marR="68475" marT="34237" marB="34237" anchor="ctr"/>
                </a:tc>
                <a:tc>
                  <a:txBody>
                    <a:bodyPr/>
                    <a:lstStyle/>
                    <a:p>
                      <a:pPr>
                        <a:buNone/>
                      </a:pPr>
                      <a:r>
                        <a:rPr lang="en-IN" sz="1200"/>
                        <a:t>Limited dataset; no large-scale validation.</a:t>
                      </a:r>
                    </a:p>
                  </a:txBody>
                  <a:tcPr marL="68475" marR="68475" marT="34237" marB="34237" anchor="ctr"/>
                </a:tc>
                <a:extLst>
                  <a:ext uri="{0D108BD9-81ED-4DB2-BD59-A6C34878D82A}">
                    <a16:rowId xmlns:a16="http://schemas.microsoft.com/office/drawing/2014/main" val="3055502341"/>
                  </a:ext>
                </a:extLst>
              </a:tr>
              <a:tr h="838938">
                <a:tc>
                  <a:txBody>
                    <a:bodyPr/>
                    <a:lstStyle/>
                    <a:p>
                      <a:pPr>
                        <a:buNone/>
                      </a:pPr>
                      <a:r>
                        <a:rPr lang="en-IN" sz="1200"/>
                        <a:t>3</a:t>
                      </a:r>
                    </a:p>
                  </a:txBody>
                  <a:tcPr marL="68475" marR="68475" marT="34237" marB="34237" anchor="ctr"/>
                </a:tc>
                <a:tc>
                  <a:txBody>
                    <a:bodyPr/>
                    <a:lstStyle/>
                    <a:p>
                      <a:pPr>
                        <a:buNone/>
                      </a:pPr>
                      <a:r>
                        <a:rPr lang="en-US" sz="1200" dirty="0"/>
                        <a:t>Machine Learning Applications for Precision Agriculture: A Review</a:t>
                      </a:r>
                    </a:p>
                  </a:txBody>
                  <a:tcPr marL="68475" marR="68475" marT="34237" marB="34237" anchor="ctr"/>
                </a:tc>
                <a:tc>
                  <a:txBody>
                    <a:bodyPr/>
                    <a:lstStyle/>
                    <a:p>
                      <a:pPr>
                        <a:buNone/>
                      </a:pPr>
                      <a:r>
                        <a:rPr lang="en-IN" sz="1200"/>
                        <a:t>Sharma et al., 2021</a:t>
                      </a:r>
                    </a:p>
                  </a:txBody>
                  <a:tcPr marL="68475" marR="68475" marT="34237" marB="34237" anchor="ctr"/>
                </a:tc>
                <a:tc>
                  <a:txBody>
                    <a:bodyPr/>
                    <a:lstStyle/>
                    <a:p>
                      <a:pPr>
                        <a:buNone/>
                      </a:pPr>
                      <a:r>
                        <a:rPr lang="en-US" sz="1200" dirty="0"/>
                        <a:t>Reviewed ML applications in smart farming.</a:t>
                      </a:r>
                    </a:p>
                  </a:txBody>
                  <a:tcPr marL="68475" marR="68475" marT="34237" marB="34237" anchor="ctr"/>
                </a:tc>
                <a:tc>
                  <a:txBody>
                    <a:bodyPr/>
                    <a:lstStyle/>
                    <a:p>
                      <a:pPr>
                        <a:buNone/>
                      </a:pPr>
                      <a:r>
                        <a:rPr lang="en-IN" sz="1200"/>
                        <a:t>Systematic literature review.</a:t>
                      </a:r>
                    </a:p>
                  </a:txBody>
                  <a:tcPr marL="68475" marR="68475" marT="34237" marB="34237" anchor="ctr"/>
                </a:tc>
                <a:tc>
                  <a:txBody>
                    <a:bodyPr/>
                    <a:lstStyle/>
                    <a:p>
                      <a:pPr>
                        <a:buNone/>
                      </a:pPr>
                      <a:r>
                        <a:rPr lang="en-US" sz="1200"/>
                        <a:t>Lack of practical implementation studies.</a:t>
                      </a:r>
                    </a:p>
                  </a:txBody>
                  <a:tcPr marL="68475" marR="68475" marT="34237" marB="34237" anchor="ctr"/>
                </a:tc>
                <a:extLst>
                  <a:ext uri="{0D108BD9-81ED-4DB2-BD59-A6C34878D82A}">
                    <a16:rowId xmlns:a16="http://schemas.microsoft.com/office/drawing/2014/main" val="3059774188"/>
                  </a:ext>
                </a:extLst>
              </a:tr>
              <a:tr h="684395">
                <a:tc>
                  <a:txBody>
                    <a:bodyPr/>
                    <a:lstStyle/>
                    <a:p>
                      <a:pPr>
                        <a:buNone/>
                      </a:pPr>
                      <a:r>
                        <a:rPr lang="en-IN" sz="1200"/>
                        <a:t>4</a:t>
                      </a:r>
                    </a:p>
                  </a:txBody>
                  <a:tcPr marL="68475" marR="68475" marT="34237" marB="34237" anchor="ctr"/>
                </a:tc>
                <a:tc>
                  <a:txBody>
                    <a:bodyPr/>
                    <a:lstStyle/>
                    <a:p>
                      <a:pPr>
                        <a:buNone/>
                      </a:pPr>
                      <a:r>
                        <a:rPr lang="en-US" sz="1200"/>
                        <a:t>Smart Irrigation System Based on IoT and AI</a:t>
                      </a:r>
                    </a:p>
                  </a:txBody>
                  <a:tcPr marL="68475" marR="68475" marT="34237" marB="34237" anchor="ctr"/>
                </a:tc>
                <a:tc>
                  <a:txBody>
                    <a:bodyPr/>
                    <a:lstStyle/>
                    <a:p>
                      <a:pPr>
                        <a:buNone/>
                      </a:pPr>
                      <a:r>
                        <a:rPr lang="en-IN" sz="1200" dirty="0"/>
                        <a:t>Jayashree et al., 2021</a:t>
                      </a:r>
                    </a:p>
                  </a:txBody>
                  <a:tcPr marL="68475" marR="68475" marT="34237" marB="34237" anchor="ctr"/>
                </a:tc>
                <a:tc>
                  <a:txBody>
                    <a:bodyPr/>
                    <a:lstStyle/>
                    <a:p>
                      <a:pPr>
                        <a:buNone/>
                      </a:pPr>
                      <a:r>
                        <a:rPr lang="en-US" sz="1200"/>
                        <a:t>Designed automated irrigation system to save water.</a:t>
                      </a:r>
                    </a:p>
                  </a:txBody>
                  <a:tcPr marL="68475" marR="68475" marT="34237" marB="34237" anchor="ctr"/>
                </a:tc>
                <a:tc>
                  <a:txBody>
                    <a:bodyPr/>
                    <a:lstStyle/>
                    <a:p>
                      <a:pPr>
                        <a:buNone/>
                      </a:pPr>
                      <a:r>
                        <a:rPr lang="en-IN" sz="1200" dirty="0"/>
                        <a:t>IoT sensors, AI algorithms.</a:t>
                      </a:r>
                    </a:p>
                  </a:txBody>
                  <a:tcPr marL="68475" marR="68475" marT="34237" marB="34237" anchor="ctr"/>
                </a:tc>
                <a:tc>
                  <a:txBody>
                    <a:bodyPr/>
                    <a:lstStyle/>
                    <a:p>
                      <a:pPr>
                        <a:buNone/>
                      </a:pPr>
                      <a:r>
                        <a:rPr lang="en-US" sz="1200"/>
                        <a:t>High initial and maintenance cost.</a:t>
                      </a:r>
                    </a:p>
                  </a:txBody>
                  <a:tcPr marL="68475" marR="68475" marT="34237" marB="34237" anchor="ctr"/>
                </a:tc>
                <a:extLst>
                  <a:ext uri="{0D108BD9-81ED-4DB2-BD59-A6C34878D82A}">
                    <a16:rowId xmlns:a16="http://schemas.microsoft.com/office/drawing/2014/main" val="1285520081"/>
                  </a:ext>
                </a:extLst>
              </a:tr>
              <a:tr h="684395">
                <a:tc>
                  <a:txBody>
                    <a:bodyPr/>
                    <a:lstStyle/>
                    <a:p>
                      <a:pPr>
                        <a:buNone/>
                      </a:pPr>
                      <a:r>
                        <a:rPr lang="en-IN" sz="1200"/>
                        <a:t>5</a:t>
                      </a:r>
                    </a:p>
                  </a:txBody>
                  <a:tcPr marL="68475" marR="68475" marT="34237" marB="34237" anchor="ctr"/>
                </a:tc>
                <a:tc>
                  <a:txBody>
                    <a:bodyPr/>
                    <a:lstStyle/>
                    <a:p>
                      <a:pPr>
                        <a:buNone/>
                      </a:pPr>
                      <a:r>
                        <a:rPr lang="en-US" sz="1200"/>
                        <a:t>Real-Time Crop Monitoring System Based on IoT and Cloud Computing</a:t>
                      </a:r>
                    </a:p>
                  </a:txBody>
                  <a:tcPr marL="68475" marR="68475" marT="34237" marB="34237" anchor="ctr"/>
                </a:tc>
                <a:tc>
                  <a:txBody>
                    <a:bodyPr/>
                    <a:lstStyle/>
                    <a:p>
                      <a:pPr>
                        <a:buNone/>
                      </a:pPr>
                      <a:r>
                        <a:rPr lang="en-IN" sz="1200"/>
                        <a:t>Li et al., 2020</a:t>
                      </a:r>
                    </a:p>
                  </a:txBody>
                  <a:tcPr marL="68475" marR="68475" marT="34237" marB="34237" anchor="ctr"/>
                </a:tc>
                <a:tc>
                  <a:txBody>
                    <a:bodyPr/>
                    <a:lstStyle/>
                    <a:p>
                      <a:pPr>
                        <a:buNone/>
                      </a:pPr>
                      <a:r>
                        <a:rPr lang="en-US" sz="1200" dirty="0"/>
                        <a:t>Developed cloud-based crop monitoring system.</a:t>
                      </a:r>
                    </a:p>
                  </a:txBody>
                  <a:tcPr marL="68475" marR="68475" marT="34237" marB="34237" anchor="ctr"/>
                </a:tc>
                <a:tc>
                  <a:txBody>
                    <a:bodyPr/>
                    <a:lstStyle/>
                    <a:p>
                      <a:pPr>
                        <a:buNone/>
                      </a:pPr>
                      <a:r>
                        <a:rPr lang="en-IN" sz="1200" dirty="0"/>
                        <a:t>IoT devices, cloud computing, mobile app.</a:t>
                      </a:r>
                    </a:p>
                  </a:txBody>
                  <a:tcPr marL="68475" marR="68475" marT="34237" marB="34237" anchor="ctr"/>
                </a:tc>
                <a:tc>
                  <a:txBody>
                    <a:bodyPr/>
                    <a:lstStyle/>
                    <a:p>
                      <a:pPr>
                        <a:buNone/>
                      </a:pPr>
                      <a:r>
                        <a:rPr lang="en-US" sz="1200" dirty="0"/>
                        <a:t>Security and network dependency issues.</a:t>
                      </a:r>
                    </a:p>
                  </a:txBody>
                  <a:tcPr marL="68475" marR="68475" marT="34237" marB="34237" anchor="ctr"/>
                </a:tc>
                <a:extLst>
                  <a:ext uri="{0D108BD9-81ED-4DB2-BD59-A6C34878D82A}">
                    <a16:rowId xmlns:a16="http://schemas.microsoft.com/office/drawing/2014/main" val="4290116071"/>
                  </a:ext>
                </a:extLst>
              </a:tr>
              <a:tr h="684395">
                <a:tc>
                  <a:txBody>
                    <a:bodyPr/>
                    <a:lstStyle/>
                    <a:p>
                      <a:pPr>
                        <a:buNone/>
                      </a:pPr>
                      <a:r>
                        <a:rPr lang="en-IN" sz="1200" dirty="0"/>
                        <a:t>6</a:t>
                      </a:r>
                    </a:p>
                  </a:txBody>
                  <a:tcPr marL="68475" marR="68475" marT="34237" marB="34237" anchor="ctr"/>
                </a:tc>
                <a:tc>
                  <a:txBody>
                    <a:bodyPr/>
                    <a:lstStyle/>
                    <a:p>
                      <a:pPr>
                        <a:buNone/>
                      </a:pPr>
                      <a:r>
                        <a:rPr lang="en-US" sz="1200"/>
                        <a:t>Machine Learning Techniques for Precision Agriculture</a:t>
                      </a:r>
                    </a:p>
                  </a:txBody>
                  <a:tcPr marL="68475" marR="68475" marT="34237" marB="34237" anchor="ctr"/>
                </a:tc>
                <a:tc>
                  <a:txBody>
                    <a:bodyPr/>
                    <a:lstStyle/>
                    <a:p>
                      <a:pPr>
                        <a:buNone/>
                      </a:pPr>
                      <a:r>
                        <a:rPr lang="en-IN" sz="1200"/>
                        <a:t>Ramesh et al., 2020</a:t>
                      </a:r>
                    </a:p>
                  </a:txBody>
                  <a:tcPr marL="68475" marR="68475" marT="34237" marB="34237" anchor="ctr"/>
                </a:tc>
                <a:tc>
                  <a:txBody>
                    <a:bodyPr/>
                    <a:lstStyle/>
                    <a:p>
                      <a:pPr>
                        <a:buNone/>
                      </a:pPr>
                      <a:r>
                        <a:rPr lang="en-US" sz="1200" dirty="0"/>
                        <a:t>Analyzed ML techniques for yield prediction.</a:t>
                      </a:r>
                    </a:p>
                  </a:txBody>
                  <a:tcPr marL="68475" marR="68475" marT="34237" marB="34237" anchor="ctr"/>
                </a:tc>
                <a:tc>
                  <a:txBody>
                    <a:bodyPr/>
                    <a:lstStyle/>
                    <a:p>
                      <a:pPr>
                        <a:buNone/>
                      </a:pPr>
                      <a:r>
                        <a:rPr lang="en-IN" sz="1200" dirty="0"/>
                        <a:t>Regression, classification, neural networks.</a:t>
                      </a:r>
                    </a:p>
                  </a:txBody>
                  <a:tcPr marL="68475" marR="68475" marT="34237" marB="34237" anchor="ctr"/>
                </a:tc>
                <a:tc>
                  <a:txBody>
                    <a:bodyPr/>
                    <a:lstStyle/>
                    <a:p>
                      <a:pPr>
                        <a:buNone/>
                      </a:pPr>
                      <a:r>
                        <a:rPr lang="en-IN" sz="1200" dirty="0"/>
                        <a:t>Dependent on data quality.</a:t>
                      </a:r>
                    </a:p>
                  </a:txBody>
                  <a:tcPr marL="68475" marR="68475" marT="34237" marB="34237" anchor="ctr"/>
                </a:tc>
                <a:extLst>
                  <a:ext uri="{0D108BD9-81ED-4DB2-BD59-A6C34878D82A}">
                    <a16:rowId xmlns:a16="http://schemas.microsoft.com/office/drawing/2014/main" val="253715092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4" name="Table 3">
            <a:extLst>
              <a:ext uri="{FF2B5EF4-FFF2-40B4-BE49-F238E27FC236}">
                <a16:creationId xmlns:a16="http://schemas.microsoft.com/office/drawing/2014/main" id="{02790925-DC15-1D42-02A7-89E2F882ECE0}"/>
              </a:ext>
            </a:extLst>
          </p:cNvPr>
          <p:cNvGraphicFramePr>
            <a:graphicFrameLocks noGrp="1"/>
          </p:cNvGraphicFramePr>
          <p:nvPr>
            <p:extLst>
              <p:ext uri="{D42A27DB-BD31-4B8C-83A1-F6EECF244321}">
                <p14:modId xmlns:p14="http://schemas.microsoft.com/office/powerpoint/2010/main" val="269750654"/>
              </p:ext>
            </p:extLst>
          </p:nvPr>
        </p:nvGraphicFramePr>
        <p:xfrm>
          <a:off x="812797" y="1143000"/>
          <a:ext cx="10668000" cy="4765395"/>
        </p:xfrm>
        <a:graphic>
          <a:graphicData uri="http://schemas.openxmlformats.org/drawingml/2006/table">
            <a:tbl>
              <a:tblPr>
                <a:tableStyleId>{3C2FFA5D-87B4-456A-9821-1D502468CF0F}</a:tableStyleId>
              </a:tblPr>
              <a:tblGrid>
                <a:gridCol w="947175">
                  <a:extLst>
                    <a:ext uri="{9D8B030D-6E8A-4147-A177-3AD203B41FA5}">
                      <a16:colId xmlns:a16="http://schemas.microsoft.com/office/drawing/2014/main" val="2804205992"/>
                    </a:ext>
                  </a:extLst>
                </a:gridCol>
                <a:gridCol w="2389239">
                  <a:extLst>
                    <a:ext uri="{9D8B030D-6E8A-4147-A177-3AD203B41FA5}">
                      <a16:colId xmlns:a16="http://schemas.microsoft.com/office/drawing/2014/main" val="182089441"/>
                    </a:ext>
                  </a:extLst>
                </a:gridCol>
                <a:gridCol w="1720645">
                  <a:extLst>
                    <a:ext uri="{9D8B030D-6E8A-4147-A177-3AD203B41FA5}">
                      <a16:colId xmlns:a16="http://schemas.microsoft.com/office/drawing/2014/main" val="548840381"/>
                    </a:ext>
                  </a:extLst>
                </a:gridCol>
                <a:gridCol w="2054941">
                  <a:extLst>
                    <a:ext uri="{9D8B030D-6E8A-4147-A177-3AD203B41FA5}">
                      <a16:colId xmlns:a16="http://schemas.microsoft.com/office/drawing/2014/main" val="562052239"/>
                    </a:ext>
                  </a:extLst>
                </a:gridCol>
                <a:gridCol w="1778000">
                  <a:extLst>
                    <a:ext uri="{9D8B030D-6E8A-4147-A177-3AD203B41FA5}">
                      <a16:colId xmlns:a16="http://schemas.microsoft.com/office/drawing/2014/main" val="1776783257"/>
                    </a:ext>
                  </a:extLst>
                </a:gridCol>
                <a:gridCol w="1778000">
                  <a:extLst>
                    <a:ext uri="{9D8B030D-6E8A-4147-A177-3AD203B41FA5}">
                      <a16:colId xmlns:a16="http://schemas.microsoft.com/office/drawing/2014/main" val="4002851216"/>
                    </a:ext>
                  </a:extLst>
                </a:gridCol>
              </a:tblGrid>
              <a:tr h="424283">
                <a:tc>
                  <a:txBody>
                    <a:bodyPr/>
                    <a:lstStyle/>
                    <a:p>
                      <a:pPr>
                        <a:buNone/>
                      </a:pPr>
                      <a:r>
                        <a:rPr lang="en-IN" sz="1200" dirty="0"/>
                        <a:t>No.</a:t>
                      </a:r>
                    </a:p>
                  </a:txBody>
                  <a:tcPr marL="78619" marR="78619" marT="39310" marB="39310" anchor="ctr"/>
                </a:tc>
                <a:tc>
                  <a:txBody>
                    <a:bodyPr/>
                    <a:lstStyle/>
                    <a:p>
                      <a:pPr>
                        <a:buNone/>
                      </a:pPr>
                      <a:r>
                        <a:rPr lang="en-IN" sz="1200"/>
                        <a:t>Paper Title</a:t>
                      </a:r>
                    </a:p>
                  </a:txBody>
                  <a:tcPr marL="78619" marR="78619" marT="39310" marB="39310" anchor="ctr"/>
                </a:tc>
                <a:tc>
                  <a:txBody>
                    <a:bodyPr/>
                    <a:lstStyle/>
                    <a:p>
                      <a:pPr>
                        <a:buNone/>
                      </a:pPr>
                      <a:r>
                        <a:rPr lang="en-IN" sz="1200"/>
                        <a:t>Authors &amp; Year</a:t>
                      </a:r>
                    </a:p>
                  </a:txBody>
                  <a:tcPr marL="78619" marR="78619" marT="39310" marB="39310" anchor="ctr"/>
                </a:tc>
                <a:tc>
                  <a:txBody>
                    <a:bodyPr/>
                    <a:lstStyle/>
                    <a:p>
                      <a:pPr>
                        <a:buNone/>
                      </a:pPr>
                      <a:r>
                        <a:rPr lang="en-IN" sz="1200"/>
                        <a:t>Key Findings / Contributions</a:t>
                      </a:r>
                    </a:p>
                  </a:txBody>
                  <a:tcPr marL="78619" marR="78619" marT="39310" marB="39310" anchor="ctr"/>
                </a:tc>
                <a:tc>
                  <a:txBody>
                    <a:bodyPr/>
                    <a:lstStyle/>
                    <a:p>
                      <a:pPr>
                        <a:buNone/>
                      </a:pPr>
                      <a:r>
                        <a:rPr lang="en-IN" sz="1200"/>
                        <a:t>Methodology / Technologies Used</a:t>
                      </a:r>
                    </a:p>
                  </a:txBody>
                  <a:tcPr marL="78619" marR="78619" marT="39310" marB="39310" anchor="ctr"/>
                </a:tc>
                <a:tc>
                  <a:txBody>
                    <a:bodyPr/>
                    <a:lstStyle/>
                    <a:p>
                      <a:pPr>
                        <a:buNone/>
                      </a:pPr>
                      <a:r>
                        <a:rPr lang="en-IN" sz="1200"/>
                        <a:t>Drawbacks / Research Gaps</a:t>
                      </a:r>
                    </a:p>
                  </a:txBody>
                  <a:tcPr marL="78619" marR="78619" marT="39310" marB="39310" anchor="ctr"/>
                </a:tc>
                <a:extLst>
                  <a:ext uri="{0D108BD9-81ED-4DB2-BD59-A6C34878D82A}">
                    <a16:rowId xmlns:a16="http://schemas.microsoft.com/office/drawing/2014/main" val="2055105208"/>
                  </a:ext>
                </a:extLst>
              </a:tr>
              <a:tr h="773692">
                <a:tc>
                  <a:txBody>
                    <a:bodyPr/>
                    <a:lstStyle/>
                    <a:p>
                      <a:pPr>
                        <a:buNone/>
                      </a:pPr>
                      <a:r>
                        <a:rPr lang="en-IN" sz="1200" dirty="0"/>
                        <a:t>7</a:t>
                      </a:r>
                    </a:p>
                  </a:txBody>
                  <a:tcPr marL="78619" marR="78619" marT="39310" marB="39310" anchor="ctr"/>
                </a:tc>
                <a:tc>
                  <a:txBody>
                    <a:bodyPr/>
                    <a:lstStyle/>
                    <a:p>
                      <a:pPr>
                        <a:buNone/>
                      </a:pPr>
                      <a:r>
                        <a:rPr lang="en-US" sz="1200" dirty="0"/>
                        <a:t>Evolution of IoT and Its Impact in Precision Agriculture</a:t>
                      </a:r>
                    </a:p>
                  </a:txBody>
                  <a:tcPr marL="78619" marR="78619" marT="39310" marB="39310" anchor="ctr"/>
                </a:tc>
                <a:tc>
                  <a:txBody>
                    <a:bodyPr/>
                    <a:lstStyle/>
                    <a:p>
                      <a:pPr>
                        <a:buNone/>
                      </a:pPr>
                      <a:r>
                        <a:rPr lang="en-IN" sz="1200"/>
                        <a:t>Khanna &amp; Kaur, 2019</a:t>
                      </a:r>
                    </a:p>
                  </a:txBody>
                  <a:tcPr marL="78619" marR="78619" marT="39310" marB="39310" anchor="ctr"/>
                </a:tc>
                <a:tc>
                  <a:txBody>
                    <a:bodyPr/>
                    <a:lstStyle/>
                    <a:p>
                      <a:pPr>
                        <a:buNone/>
                      </a:pPr>
                      <a:r>
                        <a:rPr lang="en-US" sz="1200"/>
                        <a:t>Studied IoT evolution and its impact on farming.</a:t>
                      </a:r>
                    </a:p>
                  </a:txBody>
                  <a:tcPr marL="78619" marR="78619" marT="39310" marB="39310" anchor="ctr"/>
                </a:tc>
                <a:tc>
                  <a:txBody>
                    <a:bodyPr/>
                    <a:lstStyle/>
                    <a:p>
                      <a:pPr>
                        <a:buNone/>
                      </a:pPr>
                      <a:r>
                        <a:rPr lang="en-IN" sz="1200"/>
                        <a:t>Survey-based analysis, IoT architecture.</a:t>
                      </a:r>
                    </a:p>
                  </a:txBody>
                  <a:tcPr marL="78619" marR="78619" marT="39310" marB="39310" anchor="ctr"/>
                </a:tc>
                <a:tc>
                  <a:txBody>
                    <a:bodyPr/>
                    <a:lstStyle/>
                    <a:p>
                      <a:pPr>
                        <a:buNone/>
                      </a:pPr>
                      <a:r>
                        <a:rPr lang="en-IN" sz="1200"/>
                        <a:t>Limited performance evaluation.</a:t>
                      </a:r>
                    </a:p>
                  </a:txBody>
                  <a:tcPr marL="78619" marR="78619" marT="39310" marB="39310" anchor="ctr"/>
                </a:tc>
                <a:extLst>
                  <a:ext uri="{0D108BD9-81ED-4DB2-BD59-A6C34878D82A}">
                    <a16:rowId xmlns:a16="http://schemas.microsoft.com/office/drawing/2014/main" val="3302837679"/>
                  </a:ext>
                </a:extLst>
              </a:tr>
              <a:tr h="773692">
                <a:tc>
                  <a:txBody>
                    <a:bodyPr/>
                    <a:lstStyle/>
                    <a:p>
                      <a:pPr>
                        <a:buNone/>
                      </a:pPr>
                      <a:r>
                        <a:rPr lang="en-IN" sz="1200"/>
                        <a:t>8</a:t>
                      </a:r>
                    </a:p>
                  </a:txBody>
                  <a:tcPr marL="78619" marR="78619" marT="39310" marB="39310" anchor="ctr"/>
                </a:tc>
                <a:tc>
                  <a:txBody>
                    <a:bodyPr/>
                    <a:lstStyle/>
                    <a:p>
                      <a:pPr>
                        <a:buNone/>
                      </a:pPr>
                      <a:r>
                        <a:rPr lang="en-US" sz="1200" dirty="0"/>
                        <a:t>Crop Yield Prediction Using Machine Learning Algorithms</a:t>
                      </a:r>
                    </a:p>
                  </a:txBody>
                  <a:tcPr marL="78619" marR="78619" marT="39310" marB="39310" anchor="ctr"/>
                </a:tc>
                <a:tc>
                  <a:txBody>
                    <a:bodyPr/>
                    <a:lstStyle/>
                    <a:p>
                      <a:pPr>
                        <a:buNone/>
                      </a:pPr>
                      <a:r>
                        <a:rPr lang="en-IN" sz="1200"/>
                        <a:t>Arvind &amp; Ananthi, 2019</a:t>
                      </a:r>
                    </a:p>
                  </a:txBody>
                  <a:tcPr marL="78619" marR="78619" marT="39310" marB="39310" anchor="ctr"/>
                </a:tc>
                <a:tc>
                  <a:txBody>
                    <a:bodyPr/>
                    <a:lstStyle/>
                    <a:p>
                      <a:pPr>
                        <a:buNone/>
                      </a:pPr>
                      <a:r>
                        <a:rPr lang="en-US" sz="1200"/>
                        <a:t>Developed ML models for yield prediction.</a:t>
                      </a:r>
                    </a:p>
                  </a:txBody>
                  <a:tcPr marL="78619" marR="78619" marT="39310" marB="39310" anchor="ctr"/>
                </a:tc>
                <a:tc>
                  <a:txBody>
                    <a:bodyPr/>
                    <a:lstStyle/>
                    <a:p>
                      <a:pPr>
                        <a:buNone/>
                      </a:pPr>
                      <a:r>
                        <a:rPr lang="en-US" sz="1200"/>
                        <a:t>Decision tree, SVM, neural networks.</a:t>
                      </a:r>
                    </a:p>
                  </a:txBody>
                  <a:tcPr marL="78619" marR="78619" marT="39310" marB="39310" anchor="ctr"/>
                </a:tc>
                <a:tc>
                  <a:txBody>
                    <a:bodyPr/>
                    <a:lstStyle/>
                    <a:p>
                      <a:pPr>
                        <a:buNone/>
                      </a:pPr>
                      <a:r>
                        <a:rPr lang="en-IN" sz="1200"/>
                        <a:t>Limited geographical coverage.</a:t>
                      </a:r>
                    </a:p>
                  </a:txBody>
                  <a:tcPr marL="78619" marR="78619" marT="39310" marB="39310" anchor="ctr"/>
                </a:tc>
                <a:extLst>
                  <a:ext uri="{0D108BD9-81ED-4DB2-BD59-A6C34878D82A}">
                    <a16:rowId xmlns:a16="http://schemas.microsoft.com/office/drawing/2014/main" val="103323515"/>
                  </a:ext>
                </a:extLst>
              </a:tr>
              <a:tr h="598987">
                <a:tc>
                  <a:txBody>
                    <a:bodyPr/>
                    <a:lstStyle/>
                    <a:p>
                      <a:pPr>
                        <a:buNone/>
                      </a:pPr>
                      <a:r>
                        <a:rPr lang="en-IN" sz="1200"/>
                        <a:t>9</a:t>
                      </a:r>
                    </a:p>
                  </a:txBody>
                  <a:tcPr marL="78619" marR="78619" marT="39310" marB="39310" anchor="ctr"/>
                </a:tc>
                <a:tc>
                  <a:txBody>
                    <a:bodyPr/>
                    <a:lstStyle/>
                    <a:p>
                      <a:pPr>
                        <a:buNone/>
                      </a:pPr>
                      <a:r>
                        <a:rPr lang="en-US" sz="1200" dirty="0"/>
                        <a:t>Internet of Things Based Smart Agriculture</a:t>
                      </a:r>
                    </a:p>
                  </a:txBody>
                  <a:tcPr marL="78619" marR="78619" marT="39310" marB="39310" anchor="ctr"/>
                </a:tc>
                <a:tc>
                  <a:txBody>
                    <a:bodyPr/>
                    <a:lstStyle/>
                    <a:p>
                      <a:pPr>
                        <a:buNone/>
                      </a:pPr>
                      <a:r>
                        <a:rPr lang="en-IN" sz="1200"/>
                        <a:t>Ray et al., 2018</a:t>
                      </a:r>
                    </a:p>
                  </a:txBody>
                  <a:tcPr marL="78619" marR="78619" marT="39310" marB="39310" anchor="ctr"/>
                </a:tc>
                <a:tc>
                  <a:txBody>
                    <a:bodyPr/>
                    <a:lstStyle/>
                    <a:p>
                      <a:pPr>
                        <a:buNone/>
                      </a:pPr>
                      <a:r>
                        <a:rPr lang="en-IN" sz="1200"/>
                        <a:t>Proposed IoT framework for smart farming.</a:t>
                      </a:r>
                    </a:p>
                  </a:txBody>
                  <a:tcPr marL="78619" marR="78619" marT="39310" marB="39310" anchor="ctr"/>
                </a:tc>
                <a:tc>
                  <a:txBody>
                    <a:bodyPr/>
                    <a:lstStyle/>
                    <a:p>
                      <a:pPr>
                        <a:buNone/>
                      </a:pPr>
                      <a:r>
                        <a:rPr lang="en-IN" sz="1200"/>
                        <a:t>Sensor networks, cloud services.</a:t>
                      </a:r>
                    </a:p>
                  </a:txBody>
                  <a:tcPr marL="78619" marR="78619" marT="39310" marB="39310" anchor="ctr"/>
                </a:tc>
                <a:tc>
                  <a:txBody>
                    <a:bodyPr/>
                    <a:lstStyle/>
                    <a:p>
                      <a:pPr>
                        <a:buNone/>
                      </a:pPr>
                      <a:r>
                        <a:rPr lang="en-IN" sz="1200"/>
                        <a:t>Limited field implementation.</a:t>
                      </a:r>
                    </a:p>
                  </a:txBody>
                  <a:tcPr marL="78619" marR="78619" marT="39310" marB="39310" anchor="ctr"/>
                </a:tc>
                <a:extLst>
                  <a:ext uri="{0D108BD9-81ED-4DB2-BD59-A6C34878D82A}">
                    <a16:rowId xmlns:a16="http://schemas.microsoft.com/office/drawing/2014/main" val="413630241"/>
                  </a:ext>
                </a:extLst>
              </a:tr>
              <a:tr h="773692">
                <a:tc>
                  <a:txBody>
                    <a:bodyPr/>
                    <a:lstStyle/>
                    <a:p>
                      <a:pPr>
                        <a:buNone/>
                      </a:pPr>
                      <a:r>
                        <a:rPr lang="en-IN" sz="1200"/>
                        <a:t>10</a:t>
                      </a:r>
                    </a:p>
                  </a:txBody>
                  <a:tcPr marL="78619" marR="78619" marT="39310" marB="39310" anchor="ctr"/>
                </a:tc>
                <a:tc>
                  <a:txBody>
                    <a:bodyPr/>
                    <a:lstStyle/>
                    <a:p>
                      <a:pPr>
                        <a:buNone/>
                      </a:pPr>
                      <a:r>
                        <a:rPr lang="en-US" sz="1200"/>
                        <a:t>Soil Fertility Assessment and Crop Recommendation</a:t>
                      </a:r>
                    </a:p>
                  </a:txBody>
                  <a:tcPr marL="78619" marR="78619" marT="39310" marB="39310" anchor="ctr"/>
                </a:tc>
                <a:tc>
                  <a:txBody>
                    <a:bodyPr/>
                    <a:lstStyle/>
                    <a:p>
                      <a:pPr>
                        <a:buNone/>
                      </a:pPr>
                      <a:r>
                        <a:rPr lang="en-IN" sz="1200" dirty="0"/>
                        <a:t>Patel &amp; Shukla, 2017</a:t>
                      </a:r>
                    </a:p>
                  </a:txBody>
                  <a:tcPr marL="78619" marR="78619" marT="39310" marB="39310" anchor="ctr"/>
                </a:tc>
                <a:tc>
                  <a:txBody>
                    <a:bodyPr/>
                    <a:lstStyle/>
                    <a:p>
                      <a:pPr>
                        <a:buNone/>
                      </a:pPr>
                      <a:r>
                        <a:rPr lang="en-IN" sz="1200"/>
                        <a:t>Developed data mining model for soil analysis.</a:t>
                      </a:r>
                    </a:p>
                  </a:txBody>
                  <a:tcPr marL="78619" marR="78619" marT="39310" marB="39310" anchor="ctr"/>
                </a:tc>
                <a:tc>
                  <a:txBody>
                    <a:bodyPr/>
                    <a:lstStyle/>
                    <a:p>
                      <a:pPr>
                        <a:buNone/>
                      </a:pPr>
                      <a:r>
                        <a:rPr lang="en-IN" sz="1200"/>
                        <a:t>Clustering, classification techniques.</a:t>
                      </a:r>
                    </a:p>
                  </a:txBody>
                  <a:tcPr marL="78619" marR="78619" marT="39310" marB="39310" anchor="ctr"/>
                </a:tc>
                <a:tc>
                  <a:txBody>
                    <a:bodyPr/>
                    <a:lstStyle/>
                    <a:p>
                      <a:pPr>
                        <a:buNone/>
                      </a:pPr>
                      <a:r>
                        <a:rPr lang="en-IN" sz="1200"/>
                        <a:t>Outdated datasets.</a:t>
                      </a:r>
                    </a:p>
                  </a:txBody>
                  <a:tcPr marL="78619" marR="78619" marT="39310" marB="39310" anchor="ctr"/>
                </a:tc>
                <a:extLst>
                  <a:ext uri="{0D108BD9-81ED-4DB2-BD59-A6C34878D82A}">
                    <a16:rowId xmlns:a16="http://schemas.microsoft.com/office/drawing/2014/main" val="976635561"/>
                  </a:ext>
                </a:extLst>
              </a:tr>
              <a:tr h="773692">
                <a:tc>
                  <a:txBody>
                    <a:bodyPr/>
                    <a:lstStyle/>
                    <a:p>
                      <a:pPr>
                        <a:buNone/>
                      </a:pPr>
                      <a:r>
                        <a:rPr lang="en-IN" sz="1200"/>
                        <a:t>11</a:t>
                      </a:r>
                    </a:p>
                  </a:txBody>
                  <a:tcPr marL="78619" marR="78619" marT="39310" marB="39310" anchor="ctr"/>
                </a:tc>
                <a:tc>
                  <a:txBody>
                    <a:bodyPr/>
                    <a:lstStyle/>
                    <a:p>
                      <a:pPr>
                        <a:buNone/>
                      </a:pPr>
                      <a:r>
                        <a:rPr lang="en-US" sz="1200"/>
                        <a:t>A Review on the Practice of Big Data Analysis in Agriculture</a:t>
                      </a:r>
                    </a:p>
                  </a:txBody>
                  <a:tcPr marL="78619" marR="78619" marT="39310" marB="39310" anchor="ctr"/>
                </a:tc>
                <a:tc>
                  <a:txBody>
                    <a:bodyPr/>
                    <a:lstStyle/>
                    <a:p>
                      <a:pPr>
                        <a:buNone/>
                      </a:pPr>
                      <a:r>
                        <a:rPr lang="en-IN" sz="1200" dirty="0"/>
                        <a:t>Kamilaris et al., 2017</a:t>
                      </a:r>
                    </a:p>
                  </a:txBody>
                  <a:tcPr marL="78619" marR="78619" marT="39310" marB="39310" anchor="ctr"/>
                </a:tc>
                <a:tc>
                  <a:txBody>
                    <a:bodyPr/>
                    <a:lstStyle/>
                    <a:p>
                      <a:pPr>
                        <a:buNone/>
                      </a:pPr>
                      <a:r>
                        <a:rPr lang="en-US" sz="1200" dirty="0"/>
                        <a:t>Reviewed big data use in agriculture.</a:t>
                      </a:r>
                    </a:p>
                  </a:txBody>
                  <a:tcPr marL="78619" marR="78619" marT="39310" marB="39310" anchor="ctr"/>
                </a:tc>
                <a:tc>
                  <a:txBody>
                    <a:bodyPr/>
                    <a:lstStyle/>
                    <a:p>
                      <a:pPr>
                        <a:buNone/>
                      </a:pPr>
                      <a:r>
                        <a:rPr lang="en-IN" sz="1200"/>
                        <a:t>Big data analytics frameworks.</a:t>
                      </a:r>
                    </a:p>
                  </a:txBody>
                  <a:tcPr marL="78619" marR="78619" marT="39310" marB="39310" anchor="ctr"/>
                </a:tc>
                <a:tc>
                  <a:txBody>
                    <a:bodyPr/>
                    <a:lstStyle/>
                    <a:p>
                      <a:pPr>
                        <a:buNone/>
                      </a:pPr>
                      <a:r>
                        <a:rPr lang="en-IN" sz="1200"/>
                        <a:t>Lack of standard platforms.</a:t>
                      </a:r>
                    </a:p>
                  </a:txBody>
                  <a:tcPr marL="78619" marR="78619" marT="39310" marB="39310" anchor="ctr"/>
                </a:tc>
                <a:extLst>
                  <a:ext uri="{0D108BD9-81ED-4DB2-BD59-A6C34878D82A}">
                    <a16:rowId xmlns:a16="http://schemas.microsoft.com/office/drawing/2014/main" val="1941978932"/>
                  </a:ext>
                </a:extLst>
              </a:tr>
              <a:tr h="598987">
                <a:tc>
                  <a:txBody>
                    <a:bodyPr/>
                    <a:lstStyle/>
                    <a:p>
                      <a:pPr>
                        <a:buNone/>
                      </a:pPr>
                      <a:r>
                        <a:rPr lang="en-IN" sz="1200"/>
                        <a:t>12</a:t>
                      </a:r>
                    </a:p>
                  </a:txBody>
                  <a:tcPr marL="78619" marR="78619" marT="39310" marB="39310" anchor="ctr"/>
                </a:tc>
                <a:tc>
                  <a:txBody>
                    <a:bodyPr/>
                    <a:lstStyle/>
                    <a:p>
                      <a:pPr>
                        <a:buNone/>
                      </a:pPr>
                      <a:r>
                        <a:rPr lang="en-US" sz="1200"/>
                        <a:t>Big Data in Smart Farming: A Review</a:t>
                      </a:r>
                    </a:p>
                  </a:txBody>
                  <a:tcPr marL="78619" marR="78619" marT="39310" marB="39310" anchor="ctr"/>
                </a:tc>
                <a:tc>
                  <a:txBody>
                    <a:bodyPr/>
                    <a:lstStyle/>
                    <a:p>
                      <a:pPr>
                        <a:buNone/>
                      </a:pPr>
                      <a:r>
                        <a:rPr lang="en-IN" sz="1200"/>
                        <a:t>Wolfert et al., 2017</a:t>
                      </a:r>
                    </a:p>
                  </a:txBody>
                  <a:tcPr marL="78619" marR="78619" marT="39310" marB="39310" anchor="ctr"/>
                </a:tc>
                <a:tc>
                  <a:txBody>
                    <a:bodyPr/>
                    <a:lstStyle/>
                    <a:p>
                      <a:pPr>
                        <a:buNone/>
                      </a:pPr>
                      <a:r>
                        <a:rPr lang="en-US" sz="1200"/>
                        <a:t>Discussed big data challenges in smart farming.</a:t>
                      </a:r>
                    </a:p>
                  </a:txBody>
                  <a:tcPr marL="78619" marR="78619" marT="39310" marB="39310" anchor="ctr"/>
                </a:tc>
                <a:tc>
                  <a:txBody>
                    <a:bodyPr/>
                    <a:lstStyle/>
                    <a:p>
                      <a:pPr>
                        <a:buNone/>
                      </a:pPr>
                      <a:r>
                        <a:rPr lang="en-IN" sz="1200"/>
                        <a:t>Literature review, ecosystem analysis.</a:t>
                      </a:r>
                    </a:p>
                  </a:txBody>
                  <a:tcPr marL="78619" marR="78619" marT="39310" marB="39310" anchor="ctr"/>
                </a:tc>
                <a:tc>
                  <a:txBody>
                    <a:bodyPr/>
                    <a:lstStyle/>
                    <a:p>
                      <a:pPr>
                        <a:buNone/>
                      </a:pPr>
                      <a:r>
                        <a:rPr lang="en-IN" sz="1200" dirty="0"/>
                        <a:t>Privacy and interoperability issues.</a:t>
                      </a:r>
                    </a:p>
                  </a:txBody>
                  <a:tcPr marL="78619" marR="78619" marT="39310" marB="39310" anchor="ctr"/>
                </a:tc>
                <a:extLst>
                  <a:ext uri="{0D108BD9-81ED-4DB2-BD59-A6C34878D82A}">
                    <a16:rowId xmlns:a16="http://schemas.microsoft.com/office/drawing/2014/main" val="1814668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711200" y="295420"/>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Times New Roman" panose="02020603050405020304" pitchFamily="18" charset="0"/>
                <a:ea typeface="Cambria" panose="02040503050406030204" pitchFamily="18" charset="0"/>
                <a:cs typeface="Times New Roman" panose="02020603050405020304" pitchFamily="18" charset="0"/>
              </a:rPr>
              <a:t>O</a:t>
            </a:r>
            <a:r>
              <a:rPr lang="en-IN" altLang="en-GB" dirty="0">
                <a:latin typeface="Times New Roman" panose="02020603050405020304" pitchFamily="18" charset="0"/>
                <a:ea typeface="Cambria" panose="02040503050406030204" pitchFamily="18" charset="0"/>
                <a:cs typeface="Times New Roman" panose="02020603050405020304" pitchFamily="18" charset="0"/>
              </a:rPr>
              <a:t>BJECTIVES</a:t>
            </a:r>
          </a:p>
        </p:txBody>
      </p:sp>
      <p:sp>
        <p:nvSpPr>
          <p:cNvPr id="2" name="TextBox 1"/>
          <p:cNvSpPr txBox="1"/>
          <p:nvPr/>
        </p:nvSpPr>
        <p:spPr>
          <a:xfrm>
            <a:off x="812800" y="1280160"/>
            <a:ext cx="10668000" cy="338554"/>
          </a:xfrm>
          <a:prstGeom prst="rect">
            <a:avLst/>
          </a:prstGeom>
          <a:noFill/>
        </p:spPr>
        <p:txBody>
          <a:bodyPr wrap="square" rtlCol="0">
            <a:spAutoFit/>
          </a:bodyPr>
          <a:lstStyle/>
          <a:p>
            <a:endParaRPr lang="en-US" sz="1600" dirty="0"/>
          </a:p>
        </p:txBody>
      </p:sp>
      <p:sp>
        <p:nvSpPr>
          <p:cNvPr id="6" name="Rectangle 4"/>
          <p:cNvSpPr>
            <a:spLocks noChangeArrowheads="1"/>
          </p:cNvSpPr>
          <p:nvPr/>
        </p:nvSpPr>
        <p:spPr bwMode="auto">
          <a:xfrm>
            <a:off x="812800" y="1071392"/>
            <a:ext cx="10492509" cy="4094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To enhance farmer productivity using innovative and smart technology solutions.</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To provide data-driven crop recommendations based on soil and weather conditions.</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To optimize irrigation and resource utilization through smart monitoring systems.</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To reduce farming costs and minimize wastage using automation and analytics.</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To support farmers with timely alerts and decision-making insights.</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To promote sustainable and precision farming practices.</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To improve crop yield and overall farm efficiency.</a:t>
            </a:r>
          </a:p>
          <a:p>
            <a:pPr marL="285750" indent="-285750">
              <a:lnSpc>
                <a:spcPct val="150000"/>
              </a:lnSpc>
              <a:buFont typeface="Arial" panose="020B0604020202020204" pitchFamily="34" charset="0"/>
              <a:buChar char="•"/>
            </a:pPr>
            <a:r>
              <a:rPr lang="en-US" sz="2200" dirty="0">
                <a:solidFill>
                  <a:schemeClr val="tx1"/>
                </a:solidFill>
                <a:latin typeface="Times New Roman" panose="02020603050405020304" pitchFamily="18" charset="0"/>
                <a:cs typeface="Times New Roman" panose="02020603050405020304" pitchFamily="18" charset="0"/>
                <a:hlinkClick r:id="rId3" action="ppaction://hlinkfile">
                  <a:extLst>
                    <a:ext uri="{A12FA001-AC4F-418D-AE19-62706E023703}">
                      <ahyp:hlinkClr xmlns:ahyp="http://schemas.microsoft.com/office/drawing/2018/hyperlinkcolor" val="tx"/>
                    </a:ext>
                  </a:extLst>
                </a:hlinkClick>
              </a:rPr>
              <a:t>Dataset Link</a:t>
            </a:r>
            <a:endParaRPr lang="en-US" sz="2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METHODOLOGY</a:t>
            </a:r>
          </a:p>
        </p:txBody>
      </p:sp>
      <p:sp>
        <p:nvSpPr>
          <p:cNvPr id="3" name="Text Placeholder 2"/>
          <p:cNvSpPr>
            <a:spLocks noGrp="1"/>
          </p:cNvSpPr>
          <p:nvPr>
            <p:ph type="body" idx="1"/>
          </p:nvPr>
        </p:nvSpPr>
        <p:spPr/>
        <p:txBody>
          <a:bodyPr>
            <a:normAutofit/>
          </a:bodyPr>
          <a:lstStyle/>
          <a:p>
            <a:r>
              <a:rPr lang="en-US" dirty="0">
                <a:latin typeface="Times New Roman" panose="02020603050405020304" pitchFamily="18" charset="0"/>
                <a:cs typeface="Times New Roman" panose="02020603050405020304" pitchFamily="18" charset="0"/>
              </a:rPr>
              <a:t>Data collection from multiple sources such as soil sensors, weather APIs, and historical crop data.</a:t>
            </a:r>
          </a:p>
          <a:p>
            <a:r>
              <a:rPr lang="en-US" dirty="0">
                <a:latin typeface="Times New Roman" panose="02020603050405020304" pitchFamily="18" charset="0"/>
                <a:cs typeface="Times New Roman" panose="02020603050405020304" pitchFamily="18" charset="0"/>
              </a:rPr>
              <a:t>Data preprocessing to remove noise and ensure accuracy and consistency.</a:t>
            </a:r>
          </a:p>
          <a:p>
            <a:r>
              <a:rPr lang="en-US" dirty="0">
                <a:latin typeface="Times New Roman" panose="02020603050405020304" pitchFamily="18" charset="0"/>
                <a:cs typeface="Times New Roman" panose="02020603050405020304" pitchFamily="18" charset="0"/>
              </a:rPr>
              <a:t>Analysis of soil parameters and climatic conditions to understand crop requirements.</a:t>
            </a:r>
          </a:p>
          <a:p>
            <a:r>
              <a:rPr lang="en-US" dirty="0">
                <a:latin typeface="Times New Roman" panose="02020603050405020304" pitchFamily="18" charset="0"/>
                <a:cs typeface="Times New Roman" panose="02020603050405020304" pitchFamily="18" charset="0"/>
              </a:rPr>
              <a:t>Application of data analytics and predictive models for crop recommendation and yield estimation.</a:t>
            </a:r>
          </a:p>
          <a:p>
            <a:r>
              <a:rPr lang="en-US" dirty="0">
                <a:latin typeface="Times New Roman" panose="02020603050405020304" pitchFamily="18" charset="0"/>
                <a:cs typeface="Times New Roman" panose="02020603050405020304" pitchFamily="18" charset="0"/>
              </a:rPr>
              <a:t>Implementation of smart irrigation and resource management techniques.</a:t>
            </a:r>
          </a:p>
          <a:p>
            <a:r>
              <a:rPr lang="en-US" dirty="0">
                <a:latin typeface="Times New Roman" panose="02020603050405020304" pitchFamily="18" charset="0"/>
                <a:cs typeface="Times New Roman" panose="02020603050405020304" pitchFamily="18" charset="0"/>
              </a:rPr>
              <a:t>Generation of real-time alerts and recommendations for farmers.</a:t>
            </a:r>
          </a:p>
          <a:p>
            <a:r>
              <a:rPr lang="en-US" dirty="0">
                <a:latin typeface="Times New Roman" panose="02020603050405020304" pitchFamily="18" charset="0"/>
                <a:cs typeface="Times New Roman" panose="02020603050405020304" pitchFamily="18" charset="0"/>
              </a:rPr>
              <a:t>Continuous monitoring and system updates to improve accuracy and performance.</a:t>
            </a: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US" dirty="0">
                <a:latin typeface="Times New Roman" panose="02020603050405020304" pitchFamily="18" charset="0"/>
                <a:cs typeface="Times New Roman" panose="02020603050405020304" pitchFamily="18" charset="0"/>
              </a:rPr>
              <a:t>Existing Methods and Drawbacks</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2" name="TextBox 1"/>
          <p:cNvSpPr txBox="1"/>
          <p:nvPr/>
        </p:nvSpPr>
        <p:spPr>
          <a:xfrm>
            <a:off x="812800" y="995265"/>
            <a:ext cx="10617200" cy="5170646"/>
          </a:xfrm>
          <a:prstGeom prst="rect">
            <a:avLst/>
          </a:prstGeom>
          <a:noFill/>
        </p:spPr>
        <p:txBody>
          <a:bodyPr wrap="square" rtlCol="0">
            <a:spAutoFit/>
          </a:bodyPr>
          <a:lstStyle/>
          <a:p>
            <a:pPr>
              <a:lnSpc>
                <a:spcPct val="150000"/>
              </a:lnSpc>
            </a:pPr>
            <a:r>
              <a:rPr lang="en-US" sz="2000" b="1" dirty="0">
                <a:latin typeface="Times New Roman" panose="02020603050405020304" pitchFamily="18" charset="0"/>
                <a:cs typeface="Times New Roman" panose="02020603050405020304" pitchFamily="18" charset="0"/>
              </a:rPr>
              <a:t>Existing Methods:</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Traditional farming based on farmer experience and manual observation.</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Dependence on seasonal patterns and historical practices.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Manual irrigation and fertilizer application.</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Limited use of technology and real-time data.</a:t>
            </a:r>
          </a:p>
          <a:p>
            <a:pPr>
              <a:lnSpc>
                <a:spcPct val="150000"/>
              </a:lnSpc>
            </a:pPr>
            <a:r>
              <a:rPr lang="en-US" sz="2000" b="1" dirty="0">
                <a:latin typeface="Times New Roman" panose="02020603050405020304" pitchFamily="18" charset="0"/>
                <a:cs typeface="Times New Roman" panose="02020603050405020304" pitchFamily="18" charset="0"/>
              </a:rPr>
              <a:t>Drawbacks:</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Inaccurate decision-making due to lack of data-driven insights.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Overuse or underuse of water and fertilizers.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Lower crop yield and higher operational costs.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 real-time alerts for weather changes or crop risks.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Increased dependency on trial-and-error methods.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Proposed Method &amp; Feasibility Study</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normAutofit fontScale="92500" lnSpcReduction="10000"/>
          </a:bodyPr>
          <a:lstStyle/>
          <a:p>
            <a:pPr marL="76200" indent="0">
              <a:buNone/>
            </a:pPr>
            <a:r>
              <a:rPr lang="en-US" b="1" dirty="0">
                <a:latin typeface="Times New Roman" panose="02020603050405020304" pitchFamily="18" charset="0"/>
                <a:cs typeface="Times New Roman" panose="02020603050405020304" pitchFamily="18" charset="0"/>
              </a:rPr>
              <a:t>Proposed Method</a:t>
            </a:r>
          </a:p>
          <a:p>
            <a:r>
              <a:rPr lang="en-US" dirty="0">
                <a:latin typeface="Times New Roman" panose="02020603050405020304" pitchFamily="18" charset="0"/>
                <a:cs typeface="Times New Roman" panose="02020603050405020304" pitchFamily="18" charset="0"/>
              </a:rPr>
              <a:t>Integration of smart technologies such as data analytics,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 sensors, and weather forecasting systems.</a:t>
            </a:r>
          </a:p>
          <a:p>
            <a:r>
              <a:rPr lang="en-US" dirty="0">
                <a:latin typeface="Times New Roman" panose="02020603050405020304" pitchFamily="18" charset="0"/>
                <a:cs typeface="Times New Roman" panose="02020603050405020304" pitchFamily="18" charset="0"/>
              </a:rPr>
              <a:t>Collection of real-time soil, climate, and crop data for accurate analysis.</a:t>
            </a:r>
          </a:p>
          <a:p>
            <a:r>
              <a:rPr lang="en-US" dirty="0">
                <a:latin typeface="Times New Roman" panose="02020603050405020304" pitchFamily="18" charset="0"/>
                <a:cs typeface="Times New Roman" panose="02020603050405020304" pitchFamily="18" charset="0"/>
              </a:rPr>
              <a:t>Use of predictive models to recommend suitable crops and farming practices.</a:t>
            </a:r>
          </a:p>
          <a:p>
            <a:r>
              <a:rPr lang="en-US" dirty="0">
                <a:latin typeface="Times New Roman" panose="02020603050405020304" pitchFamily="18" charset="0"/>
                <a:cs typeface="Times New Roman" panose="02020603050405020304" pitchFamily="18" charset="0"/>
              </a:rPr>
              <a:t>Implementation of smart irrigation to optimize water usage.</a:t>
            </a:r>
          </a:p>
          <a:p>
            <a:r>
              <a:rPr lang="en-US" dirty="0">
                <a:latin typeface="Times New Roman" panose="02020603050405020304" pitchFamily="18" charset="0"/>
                <a:cs typeface="Times New Roman" panose="02020603050405020304" pitchFamily="18" charset="0"/>
              </a:rPr>
              <a:t>Real-time alerts and decision support for farmers through a digital platform.</a:t>
            </a:r>
          </a:p>
          <a:p>
            <a:r>
              <a:rPr lang="en-US" dirty="0">
                <a:latin typeface="Times New Roman" panose="02020603050405020304" pitchFamily="18" charset="0"/>
                <a:cs typeface="Times New Roman" panose="02020603050405020304" pitchFamily="18" charset="0"/>
              </a:rPr>
              <a:t>Continuous system monitoring to improve accuracy and reliability.</a:t>
            </a:r>
          </a:p>
          <a:p>
            <a:pPr marL="76200" indent="0">
              <a:buNone/>
            </a:pPr>
            <a:r>
              <a:rPr lang="en-US" b="1" dirty="0">
                <a:latin typeface="Times New Roman" panose="02020603050405020304" pitchFamily="18" charset="0"/>
                <a:cs typeface="Times New Roman" panose="02020603050405020304" pitchFamily="18" charset="0"/>
              </a:rPr>
              <a:t>Feasibility Study</a:t>
            </a:r>
          </a:p>
          <a:p>
            <a:r>
              <a:rPr lang="en-US" dirty="0">
                <a:latin typeface="Times New Roman" panose="02020603050405020304" pitchFamily="18" charset="0"/>
                <a:cs typeface="Times New Roman" panose="02020603050405020304" pitchFamily="18" charset="0"/>
              </a:rPr>
              <a:t>Technical Feasibility: Uses existing sensors, cloud platforms, and analytics tools.</a:t>
            </a:r>
          </a:p>
          <a:p>
            <a:r>
              <a:rPr lang="en-US" dirty="0">
                <a:latin typeface="Times New Roman" panose="02020603050405020304" pitchFamily="18" charset="0"/>
                <a:cs typeface="Times New Roman" panose="02020603050405020304" pitchFamily="18" charset="0"/>
              </a:rPr>
              <a:t>Economic Feasibility: Low-cost implementation with long-term cost savings for farmers.</a:t>
            </a:r>
          </a:p>
          <a:p>
            <a:r>
              <a:rPr lang="en-US" dirty="0">
                <a:latin typeface="Times New Roman" panose="02020603050405020304" pitchFamily="18" charset="0"/>
                <a:cs typeface="Times New Roman" panose="02020603050405020304" pitchFamily="18" charset="0"/>
              </a:rPr>
              <a:t>Operational Feasibility: Simple and user-friendly for easy farmer adoption.</a:t>
            </a:r>
          </a:p>
          <a:p>
            <a:r>
              <a:rPr lang="en-US" dirty="0">
                <a:latin typeface="Times New Roman" panose="02020603050405020304" pitchFamily="18" charset="0"/>
                <a:cs typeface="Times New Roman" panose="02020603050405020304" pitchFamily="18" charset="0"/>
              </a:rPr>
              <a:t>Scalability Feasibility: Can be expanded to different crops and regions.</a:t>
            </a: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itchFamily="18" charset="0"/>
                <a:cs typeface="Times New Roman" pitchFamily="18" charset="0"/>
              </a:rPr>
              <a:t>Architecture Diagram</a:t>
            </a:r>
          </a:p>
        </p:txBody>
      </p:sp>
      <p:pic>
        <p:nvPicPr>
          <p:cNvPr id="8" name="Picture 7">
            <a:extLst>
              <a:ext uri="{FF2B5EF4-FFF2-40B4-BE49-F238E27FC236}">
                <a16:creationId xmlns:a16="http://schemas.microsoft.com/office/drawing/2014/main" id="{5E67BC51-F115-4C11-0458-66A54678A37E}"/>
              </a:ext>
            </a:extLst>
          </p:cNvPr>
          <p:cNvPicPr>
            <a:picLocks noChangeAspect="1"/>
          </p:cNvPicPr>
          <p:nvPr/>
        </p:nvPicPr>
        <p:blipFill>
          <a:blip r:embed="rId2"/>
          <a:stretch>
            <a:fillRect/>
          </a:stretch>
        </p:blipFill>
        <p:spPr>
          <a:xfrm>
            <a:off x="812800" y="1052052"/>
            <a:ext cx="10426700" cy="484730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MODULES</a:t>
            </a:r>
          </a:p>
        </p:txBody>
      </p:sp>
      <p:sp>
        <p:nvSpPr>
          <p:cNvPr id="3" name="Text Placeholder 2"/>
          <p:cNvSpPr>
            <a:spLocks noGrp="1"/>
          </p:cNvSpPr>
          <p:nvPr>
            <p:ph type="body" idx="1"/>
          </p:nvPr>
        </p:nvSpPr>
        <p:spPr>
          <a:xfrm>
            <a:off x="812799" y="953729"/>
            <a:ext cx="2687485" cy="5142272"/>
          </a:xfrm>
        </p:spPr>
        <p:txBody>
          <a:bodyPr>
            <a:noAutofit/>
          </a:bodyPr>
          <a:lstStyle/>
          <a:p>
            <a:pPr marL="76200" indent="0">
              <a:buNone/>
            </a:pPr>
            <a:r>
              <a:rPr lang="en-IN" sz="1000" b="1" dirty="0"/>
              <a:t>1) User Management Module</a:t>
            </a:r>
          </a:p>
          <a:p>
            <a:pPr marL="76200" indent="0">
              <a:buNone/>
            </a:pPr>
            <a:r>
              <a:rPr lang="en-IN" sz="1000" b="1" dirty="0"/>
              <a:t>Sub-modules:</a:t>
            </a:r>
            <a:endParaRPr lang="en-IN" sz="1000" dirty="0"/>
          </a:p>
          <a:p>
            <a:pPr marL="76200" indent="0">
              <a:buNone/>
            </a:pPr>
            <a:r>
              <a:rPr lang="en-IN" sz="1000" dirty="0"/>
              <a:t>Farmer/Admin Registration</a:t>
            </a:r>
          </a:p>
          <a:p>
            <a:pPr marL="76200" indent="0">
              <a:buNone/>
            </a:pPr>
            <a:r>
              <a:rPr lang="en-IN" sz="1000" dirty="0"/>
              <a:t>Login &amp; Profile Management</a:t>
            </a:r>
            <a:br>
              <a:rPr lang="en-IN" sz="1000" dirty="0"/>
            </a:br>
            <a:endParaRPr lang="en-IN" sz="1000" dirty="0"/>
          </a:p>
          <a:p>
            <a:pPr marL="76200" indent="0">
              <a:buNone/>
            </a:pPr>
            <a:r>
              <a:rPr lang="en-IN" sz="1000" b="1" dirty="0"/>
              <a:t>2) Sensor &amp; Data Collection Module</a:t>
            </a:r>
          </a:p>
          <a:p>
            <a:pPr marL="76200" indent="0">
              <a:buNone/>
            </a:pPr>
            <a:r>
              <a:rPr lang="en-IN" sz="1000" b="1" dirty="0"/>
              <a:t>Sub-modules:</a:t>
            </a:r>
            <a:endParaRPr lang="en-IN" sz="1000" dirty="0"/>
          </a:p>
          <a:p>
            <a:pPr marL="76200" indent="0">
              <a:buNone/>
            </a:pPr>
            <a:r>
              <a:rPr lang="en-IN" sz="1000" dirty="0"/>
              <a:t>Automatic Sensor Data Collection</a:t>
            </a:r>
          </a:p>
          <a:p>
            <a:pPr marL="76200" indent="0">
              <a:buNone/>
            </a:pPr>
            <a:r>
              <a:rPr lang="en-IN" sz="1000" dirty="0"/>
              <a:t>Manual Data Entry System</a:t>
            </a:r>
          </a:p>
          <a:p>
            <a:pPr marL="76200" indent="0">
              <a:buNone/>
            </a:pPr>
            <a:br>
              <a:rPr lang="en-IN" sz="1000" dirty="0"/>
            </a:br>
            <a:endParaRPr lang="en-IN" sz="1000" dirty="0"/>
          </a:p>
          <a:p>
            <a:pPr marL="76200" indent="0">
              <a:buNone/>
            </a:pPr>
            <a:r>
              <a:rPr lang="en-IN" sz="1000" b="1" dirty="0"/>
              <a:t>3) Data Transmission Module</a:t>
            </a:r>
          </a:p>
          <a:p>
            <a:pPr marL="76200" indent="0">
              <a:buNone/>
            </a:pPr>
            <a:r>
              <a:rPr lang="en-IN" sz="1000" b="1" dirty="0"/>
              <a:t>Sub-modules:</a:t>
            </a:r>
            <a:endParaRPr lang="en-IN" sz="1000" dirty="0"/>
          </a:p>
          <a:p>
            <a:pPr marL="76200" indent="0">
              <a:buNone/>
            </a:pPr>
            <a:r>
              <a:rPr lang="en-IN" sz="1000" dirty="0"/>
              <a:t>Wireless Data Transfer (Wi-Fi/Internet)</a:t>
            </a:r>
          </a:p>
          <a:p>
            <a:pPr marL="76200" indent="0">
              <a:buNone/>
            </a:pPr>
            <a:r>
              <a:rPr lang="en-IN" sz="1000" dirty="0"/>
              <a:t>Secure API Communication</a:t>
            </a:r>
          </a:p>
          <a:p>
            <a:pPr marL="76200" indent="0">
              <a:buNone/>
            </a:pPr>
            <a:br>
              <a:rPr lang="en-IN" sz="1000" dirty="0"/>
            </a:br>
            <a:endParaRPr lang="en-IN" sz="1000" dirty="0"/>
          </a:p>
          <a:p>
            <a:pPr marL="76200" indent="0">
              <a:buNone/>
            </a:pPr>
            <a:r>
              <a:rPr lang="en-IN" sz="1000" b="1" dirty="0"/>
              <a:t>4) Data Storage Module</a:t>
            </a:r>
          </a:p>
          <a:p>
            <a:pPr marL="76200" indent="0">
              <a:buNone/>
            </a:pPr>
            <a:r>
              <a:rPr lang="en-IN" sz="1000" b="1" dirty="0"/>
              <a:t>Sub-modules:</a:t>
            </a:r>
            <a:endParaRPr lang="en-IN" sz="1000" dirty="0"/>
          </a:p>
          <a:p>
            <a:pPr marL="76200" indent="0">
              <a:buNone/>
            </a:pPr>
            <a:r>
              <a:rPr lang="en-IN" sz="1000" dirty="0"/>
              <a:t>Real-Time Data Storage</a:t>
            </a:r>
          </a:p>
          <a:p>
            <a:pPr marL="76200" indent="0">
              <a:buNone/>
            </a:pPr>
            <a:r>
              <a:rPr lang="en-IN" sz="1000" dirty="0"/>
              <a:t>Historical Data Management</a:t>
            </a:r>
          </a:p>
          <a:p>
            <a:pPr marL="76200" indent="0">
              <a:buNone/>
            </a:pPr>
            <a:br>
              <a:rPr lang="en-IN" sz="600" dirty="0"/>
            </a:br>
            <a:endParaRPr lang="en-IN" sz="600" dirty="0"/>
          </a:p>
          <a:p>
            <a:pPr marL="0" lvl="0" indent="0" eaLnBrk="0" fontAlgn="base" hangingPunct="0">
              <a:spcBef>
                <a:spcPct val="0"/>
              </a:spcBef>
              <a:spcAft>
                <a:spcPct val="0"/>
              </a:spcAft>
              <a:buClrTx/>
              <a:buSzTx/>
              <a:buFontTx/>
              <a:buChar char="•"/>
            </a:pPr>
            <a:endParaRPr lang="en-US" altLang="en-US" sz="600" dirty="0">
              <a:latin typeface="Times New Roman" panose="02020603050405020304" pitchFamily="18" charset="0"/>
              <a:ea typeface="Cambria" panose="02040503050406030204" pitchFamily="18" charset="0"/>
              <a:cs typeface="Times New Roman" panose="02020603050405020304" pitchFamily="18" charset="0"/>
            </a:endParaRPr>
          </a:p>
          <a:p>
            <a:pPr>
              <a:buFont typeface="Arial" panose="020B0604020202020204" pitchFamily="34" charset="0"/>
              <a:buChar char="•"/>
            </a:pPr>
            <a:endParaRPr lang="en-US" altLang="en-US" sz="14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4" name="Text Box 3"/>
          <p:cNvSpPr txBox="1"/>
          <p:nvPr/>
        </p:nvSpPr>
        <p:spPr>
          <a:xfrm>
            <a:off x="3324860" y="536575"/>
            <a:ext cx="4064000" cy="306705"/>
          </a:xfrm>
          <a:prstGeom prst="rect">
            <a:avLst/>
          </a:prstGeom>
          <a:noFill/>
        </p:spPr>
        <p:txBody>
          <a:bodyPr wrap="square" rtlCol="0">
            <a:spAutoFit/>
          </a:bodyPr>
          <a:lstStyle/>
          <a:p>
            <a:endParaRPr lang="en-US"/>
          </a:p>
        </p:txBody>
      </p:sp>
      <p:sp>
        <p:nvSpPr>
          <p:cNvPr id="6" name="TextBox 5">
            <a:extLst>
              <a:ext uri="{FF2B5EF4-FFF2-40B4-BE49-F238E27FC236}">
                <a16:creationId xmlns:a16="http://schemas.microsoft.com/office/drawing/2014/main" id="{FBF5BA80-6D7A-37B2-F092-B7AA85675EB1}"/>
              </a:ext>
            </a:extLst>
          </p:cNvPr>
          <p:cNvSpPr txBox="1"/>
          <p:nvPr/>
        </p:nvSpPr>
        <p:spPr>
          <a:xfrm>
            <a:off x="3431456" y="1024075"/>
            <a:ext cx="2910350" cy="5078313"/>
          </a:xfrm>
          <a:prstGeom prst="rect">
            <a:avLst/>
          </a:prstGeom>
          <a:noFill/>
        </p:spPr>
        <p:txBody>
          <a:bodyPr wrap="square">
            <a:spAutoFit/>
          </a:bodyPr>
          <a:lstStyle/>
          <a:p>
            <a:pPr marL="76200" indent="0">
              <a:buNone/>
            </a:pPr>
            <a:r>
              <a:rPr lang="en-IN" sz="1000" b="1" dirty="0">
                <a:latin typeface="Verdana" panose="020B0604030504040204" pitchFamily="34" charset="0"/>
                <a:ea typeface="Verdana" panose="020B0604030504040204" pitchFamily="34" charset="0"/>
              </a:rPr>
              <a:t>5) Data Processing Module</a:t>
            </a:r>
          </a:p>
          <a:p>
            <a:pPr marL="76200" indent="0">
              <a:buNone/>
            </a:pPr>
            <a:r>
              <a:rPr lang="en-IN" sz="1000" b="1" dirty="0">
                <a:latin typeface="Verdana" panose="020B0604030504040204" pitchFamily="34" charset="0"/>
                <a:ea typeface="Verdana" panose="020B0604030504040204" pitchFamily="34" charset="0"/>
              </a:rPr>
              <a:t>Sub-modules:</a:t>
            </a:r>
            <a:endParaRPr lang="en-IN" sz="1000" dirty="0">
              <a:latin typeface="Verdana" panose="020B0604030504040204" pitchFamily="34" charset="0"/>
              <a:ea typeface="Verdana" panose="020B0604030504040204" pitchFamily="34" charset="0"/>
            </a:endParaRPr>
          </a:p>
          <a:p>
            <a:pPr marL="76200" indent="0">
              <a:buNone/>
            </a:pPr>
            <a:r>
              <a:rPr lang="en-IN" sz="1000" dirty="0">
                <a:latin typeface="Verdana" panose="020B0604030504040204" pitchFamily="34" charset="0"/>
                <a:ea typeface="Verdana" panose="020B0604030504040204" pitchFamily="34" charset="0"/>
              </a:rPr>
              <a:t>Data Cleaning &amp; Validation</a:t>
            </a:r>
          </a:p>
          <a:p>
            <a:pPr marL="76200" indent="0">
              <a:buNone/>
            </a:pPr>
            <a:r>
              <a:rPr lang="en-IN" sz="1000" dirty="0">
                <a:latin typeface="Verdana" panose="020B0604030504040204" pitchFamily="34" charset="0"/>
                <a:ea typeface="Verdana" panose="020B0604030504040204" pitchFamily="34" charset="0"/>
              </a:rPr>
              <a:t>Data Normalization &amp; Formatting</a:t>
            </a:r>
          </a:p>
          <a:p>
            <a:pPr marL="76200" indent="0">
              <a:buNone/>
            </a:pPr>
            <a:br>
              <a:rPr lang="en-IN" sz="1000" dirty="0">
                <a:latin typeface="Verdana" panose="020B0604030504040204" pitchFamily="34" charset="0"/>
                <a:ea typeface="Verdana" panose="020B0604030504040204" pitchFamily="34" charset="0"/>
              </a:rPr>
            </a:br>
            <a:endParaRPr lang="en-IN" sz="1000" dirty="0">
              <a:latin typeface="Verdana" panose="020B0604030504040204" pitchFamily="34" charset="0"/>
              <a:ea typeface="Verdana" panose="020B0604030504040204" pitchFamily="34" charset="0"/>
            </a:endParaRPr>
          </a:p>
          <a:p>
            <a:pPr marL="76200" indent="0">
              <a:buNone/>
            </a:pPr>
            <a:endParaRPr lang="en-IN" sz="1000" dirty="0">
              <a:latin typeface="Verdana" panose="020B0604030504040204" pitchFamily="34" charset="0"/>
              <a:ea typeface="Verdana" panose="020B0604030504040204" pitchFamily="34" charset="0"/>
            </a:endParaRPr>
          </a:p>
          <a:p>
            <a:pPr marL="76200" indent="0">
              <a:buNone/>
            </a:pPr>
            <a:r>
              <a:rPr lang="en-IN" sz="1000" b="1" dirty="0">
                <a:latin typeface="Verdana" panose="020B0604030504040204" pitchFamily="34" charset="0"/>
                <a:ea typeface="Verdana" panose="020B0604030504040204" pitchFamily="34" charset="0"/>
              </a:rPr>
              <a:t>6) Analytics &amp; Decision Support Module</a:t>
            </a:r>
          </a:p>
          <a:p>
            <a:pPr marL="76200" indent="0">
              <a:buNone/>
            </a:pPr>
            <a:r>
              <a:rPr lang="en-IN" sz="1000" b="1" dirty="0">
                <a:latin typeface="Verdana" panose="020B0604030504040204" pitchFamily="34" charset="0"/>
                <a:ea typeface="Verdana" panose="020B0604030504040204" pitchFamily="34" charset="0"/>
              </a:rPr>
              <a:t>Sub-modules:</a:t>
            </a:r>
            <a:endParaRPr lang="en-IN" sz="1000" dirty="0">
              <a:latin typeface="Verdana" panose="020B0604030504040204" pitchFamily="34" charset="0"/>
              <a:ea typeface="Verdana" panose="020B0604030504040204" pitchFamily="34" charset="0"/>
            </a:endParaRPr>
          </a:p>
          <a:p>
            <a:pPr marL="76200" indent="0">
              <a:buNone/>
            </a:pPr>
            <a:r>
              <a:rPr lang="en-IN" sz="1000" dirty="0">
                <a:latin typeface="Verdana" panose="020B0604030504040204" pitchFamily="34" charset="0"/>
                <a:ea typeface="Verdana" panose="020B0604030504040204" pitchFamily="34" charset="0"/>
              </a:rPr>
              <a:t>Crop Recommendation System</a:t>
            </a:r>
          </a:p>
          <a:p>
            <a:pPr marL="76200" indent="0">
              <a:buNone/>
            </a:pPr>
            <a:r>
              <a:rPr lang="en-IN" sz="1000" dirty="0">
                <a:latin typeface="Verdana" panose="020B0604030504040204" pitchFamily="34" charset="0"/>
                <a:ea typeface="Verdana" panose="020B0604030504040204" pitchFamily="34" charset="0"/>
              </a:rPr>
              <a:t>Yield Prediction Analysis</a:t>
            </a:r>
          </a:p>
          <a:p>
            <a:pPr marL="76200" indent="0">
              <a:buNone/>
            </a:pPr>
            <a:endParaRPr lang="en-IN" sz="1000" dirty="0">
              <a:latin typeface="Verdana" panose="020B0604030504040204" pitchFamily="34" charset="0"/>
              <a:ea typeface="Verdana" panose="020B0604030504040204" pitchFamily="34" charset="0"/>
            </a:endParaRPr>
          </a:p>
          <a:p>
            <a:pPr marL="76200" indent="0">
              <a:buNone/>
            </a:pPr>
            <a:endParaRPr lang="en-IN" sz="1000" dirty="0">
              <a:latin typeface="Verdana" panose="020B0604030504040204" pitchFamily="34" charset="0"/>
              <a:ea typeface="Verdana" panose="020B0604030504040204" pitchFamily="34" charset="0"/>
            </a:endParaRPr>
          </a:p>
          <a:p>
            <a:pPr marL="76200" indent="0">
              <a:buNone/>
            </a:pPr>
            <a:endParaRPr lang="en-IN" sz="1000" dirty="0">
              <a:latin typeface="Verdana" panose="020B0604030504040204" pitchFamily="34" charset="0"/>
              <a:ea typeface="Verdana" panose="020B0604030504040204" pitchFamily="34" charset="0"/>
            </a:endParaRPr>
          </a:p>
          <a:p>
            <a:pPr marL="76200" indent="0">
              <a:buNone/>
            </a:pPr>
            <a:endParaRPr lang="en-IN" sz="1000" dirty="0">
              <a:latin typeface="Verdana" panose="020B0604030504040204" pitchFamily="34" charset="0"/>
              <a:ea typeface="Verdana" panose="020B0604030504040204" pitchFamily="34" charset="0"/>
            </a:endParaRPr>
          </a:p>
          <a:p>
            <a:pPr marL="76200" indent="0">
              <a:buNone/>
            </a:pPr>
            <a:endParaRPr lang="en-IN" sz="1000" dirty="0">
              <a:latin typeface="Verdana" panose="020B0604030504040204" pitchFamily="34" charset="0"/>
              <a:ea typeface="Verdana" panose="020B0604030504040204" pitchFamily="34" charset="0"/>
            </a:endParaRPr>
          </a:p>
          <a:p>
            <a:r>
              <a:rPr lang="en-IN" sz="1000" b="1" dirty="0">
                <a:latin typeface="Verdana" panose="020B0604030504040204" pitchFamily="34" charset="0"/>
                <a:ea typeface="Verdana" panose="020B0604030504040204" pitchFamily="34" charset="0"/>
              </a:rPr>
              <a:t> 7) Smart Irrigation Managements</a:t>
            </a:r>
            <a:endParaRPr lang="en-IN" sz="1000" dirty="0">
              <a:latin typeface="Verdana" panose="020B0604030504040204" pitchFamily="34" charset="0"/>
              <a:ea typeface="Verdana" panose="020B0604030504040204" pitchFamily="34" charset="0"/>
            </a:endParaRPr>
          </a:p>
          <a:p>
            <a:r>
              <a:rPr lang="en-IN" sz="1000" b="1" dirty="0">
                <a:latin typeface="Verdana" panose="020B0604030504040204" pitchFamily="34" charset="0"/>
                <a:ea typeface="Verdana" panose="020B0604030504040204" pitchFamily="34" charset="0"/>
              </a:rPr>
              <a:t>  Module</a:t>
            </a:r>
          </a:p>
          <a:p>
            <a:r>
              <a:rPr lang="en-IN" sz="1000" b="1" dirty="0">
                <a:latin typeface="Verdana" panose="020B0604030504040204" pitchFamily="34" charset="0"/>
                <a:ea typeface="Verdana" panose="020B0604030504040204" pitchFamily="34" charset="0"/>
              </a:rPr>
              <a:t>  Sub-modules:</a:t>
            </a:r>
            <a:endParaRPr lang="en-IN" sz="1000" dirty="0">
              <a:latin typeface="Verdana" panose="020B0604030504040204" pitchFamily="34" charset="0"/>
              <a:ea typeface="Verdana" panose="020B0604030504040204" pitchFamily="34" charset="0"/>
            </a:endParaRPr>
          </a:p>
          <a:p>
            <a:r>
              <a:rPr lang="en-IN" sz="1000" dirty="0">
                <a:latin typeface="Verdana" panose="020B0604030504040204" pitchFamily="34" charset="0"/>
                <a:ea typeface="Verdana" panose="020B0604030504040204" pitchFamily="34" charset="0"/>
              </a:rPr>
              <a:t>  Water Requirement Calculation</a:t>
            </a:r>
          </a:p>
          <a:p>
            <a:r>
              <a:rPr lang="en-IN" sz="1000" dirty="0">
                <a:latin typeface="Verdana" panose="020B0604030504040204" pitchFamily="34" charset="0"/>
                <a:ea typeface="Verdana" panose="020B0604030504040204" pitchFamily="34" charset="0"/>
              </a:rPr>
              <a:t>  Automated Irrigation cheduling</a:t>
            </a:r>
          </a:p>
          <a:p>
            <a:br>
              <a:rPr lang="en-IN" sz="1000" dirty="0">
                <a:latin typeface="Verdana" panose="020B0604030504040204" pitchFamily="34" charset="0"/>
                <a:ea typeface="Verdana" panose="020B0604030504040204" pitchFamily="34" charset="0"/>
              </a:rPr>
            </a:br>
            <a:endParaRPr lang="en-IN" sz="1000" dirty="0">
              <a:latin typeface="Verdana" panose="020B0604030504040204" pitchFamily="34" charset="0"/>
              <a:ea typeface="Verdana" panose="020B0604030504040204" pitchFamily="34" charset="0"/>
            </a:endParaRPr>
          </a:p>
          <a:p>
            <a:endParaRPr lang="en-IN" sz="1000" dirty="0">
              <a:latin typeface="Verdana" panose="020B0604030504040204" pitchFamily="34" charset="0"/>
              <a:ea typeface="Verdana" panose="020B0604030504040204" pitchFamily="34" charset="0"/>
            </a:endParaRPr>
          </a:p>
          <a:p>
            <a:endParaRPr lang="en-IN" sz="1000" dirty="0">
              <a:latin typeface="Verdana" panose="020B0604030504040204" pitchFamily="34" charset="0"/>
              <a:ea typeface="Verdana" panose="020B0604030504040204" pitchFamily="34" charset="0"/>
            </a:endParaRPr>
          </a:p>
          <a:p>
            <a:r>
              <a:rPr lang="en-IN" sz="1000" b="1" dirty="0">
                <a:latin typeface="Verdana" panose="020B0604030504040204" pitchFamily="34" charset="0"/>
                <a:ea typeface="Verdana" panose="020B0604030504040204" pitchFamily="34" charset="0"/>
              </a:rPr>
              <a:t>  8) Alert &amp; Notification Module</a:t>
            </a:r>
          </a:p>
          <a:p>
            <a:r>
              <a:rPr lang="en-IN" sz="1000" b="1" dirty="0">
                <a:latin typeface="Verdana" panose="020B0604030504040204" pitchFamily="34" charset="0"/>
                <a:ea typeface="Verdana" panose="020B0604030504040204" pitchFamily="34" charset="0"/>
              </a:rPr>
              <a:t>  Sub-modules:</a:t>
            </a:r>
            <a:endParaRPr lang="en-IN" sz="1000" dirty="0">
              <a:latin typeface="Verdana" panose="020B0604030504040204" pitchFamily="34" charset="0"/>
              <a:ea typeface="Verdana" panose="020B0604030504040204" pitchFamily="34" charset="0"/>
            </a:endParaRPr>
          </a:p>
          <a:p>
            <a:r>
              <a:rPr lang="en-IN" sz="1000" dirty="0">
                <a:latin typeface="Verdana" panose="020B0604030504040204" pitchFamily="34" charset="0"/>
                <a:ea typeface="Verdana" panose="020B0604030504040204" pitchFamily="34" charset="0"/>
              </a:rPr>
              <a:t>  Weather &amp; Climate Alerts</a:t>
            </a:r>
          </a:p>
          <a:p>
            <a:r>
              <a:rPr lang="en-IN" sz="1000" dirty="0">
                <a:latin typeface="Verdana" panose="020B0604030504040204" pitchFamily="34" charset="0"/>
                <a:ea typeface="Verdana" panose="020B0604030504040204" pitchFamily="34" charset="0"/>
              </a:rPr>
              <a:t>  Crop &amp; Irrigation Notifications</a:t>
            </a:r>
          </a:p>
          <a:p>
            <a:br>
              <a:rPr lang="en-IN" sz="800" dirty="0"/>
            </a:br>
            <a:endParaRPr lang="en-IN" sz="800" dirty="0"/>
          </a:p>
          <a:p>
            <a:pPr marL="76200" indent="0">
              <a:buNone/>
            </a:pPr>
            <a:endParaRPr lang="en-IN" sz="800" dirty="0"/>
          </a:p>
        </p:txBody>
      </p:sp>
      <p:sp>
        <p:nvSpPr>
          <p:cNvPr id="8" name="TextBox 7">
            <a:extLst>
              <a:ext uri="{FF2B5EF4-FFF2-40B4-BE49-F238E27FC236}">
                <a16:creationId xmlns:a16="http://schemas.microsoft.com/office/drawing/2014/main" id="{2D9DD397-10CF-A8B9-70AD-D58988686CEB}"/>
              </a:ext>
            </a:extLst>
          </p:cNvPr>
          <p:cNvSpPr txBox="1"/>
          <p:nvPr/>
        </p:nvSpPr>
        <p:spPr>
          <a:xfrm>
            <a:off x="6341806" y="953729"/>
            <a:ext cx="4070554" cy="4924425"/>
          </a:xfrm>
          <a:prstGeom prst="rect">
            <a:avLst/>
          </a:prstGeom>
          <a:noFill/>
        </p:spPr>
        <p:txBody>
          <a:bodyPr wrap="square">
            <a:spAutoFit/>
          </a:bodyPr>
          <a:lstStyle/>
          <a:p>
            <a:r>
              <a:rPr lang="en-IN" sz="1000" b="1" dirty="0">
                <a:latin typeface="Verdana" panose="020B0604030504040204" pitchFamily="34" charset="0"/>
                <a:ea typeface="Verdana" panose="020B0604030504040204" pitchFamily="34" charset="0"/>
              </a:rPr>
              <a:t>9) Monitoring &amp; Visualization Module</a:t>
            </a:r>
          </a:p>
          <a:p>
            <a:r>
              <a:rPr lang="en-IN" sz="1000" b="1" dirty="0">
                <a:latin typeface="Verdana" panose="020B0604030504040204" pitchFamily="34" charset="0"/>
                <a:ea typeface="Verdana" panose="020B0604030504040204" pitchFamily="34" charset="0"/>
              </a:rPr>
              <a:t>Sub-modules:</a:t>
            </a:r>
            <a:endParaRPr lang="en-IN" sz="1000" dirty="0">
              <a:latin typeface="Verdana" panose="020B0604030504040204" pitchFamily="34" charset="0"/>
              <a:ea typeface="Verdana" panose="020B0604030504040204" pitchFamily="34" charset="0"/>
            </a:endParaRPr>
          </a:p>
          <a:p>
            <a:r>
              <a:rPr lang="en-IN" sz="1000" dirty="0">
                <a:latin typeface="Verdana" panose="020B0604030504040204" pitchFamily="34" charset="0"/>
                <a:ea typeface="Verdana" panose="020B0604030504040204" pitchFamily="34" charset="0"/>
              </a:rPr>
              <a:t>Real-Time Dashboard Display</a:t>
            </a:r>
          </a:p>
          <a:p>
            <a:r>
              <a:rPr lang="en-IN" sz="1000" dirty="0">
                <a:latin typeface="Verdana" panose="020B0604030504040204" pitchFamily="34" charset="0"/>
                <a:ea typeface="Verdana" panose="020B0604030504040204" pitchFamily="34" charset="0"/>
              </a:rPr>
              <a:t>Graph &amp; Report Generation</a:t>
            </a:r>
          </a:p>
          <a:p>
            <a:endParaRPr lang="en-IN" sz="1000" dirty="0">
              <a:latin typeface="Verdana" panose="020B0604030504040204" pitchFamily="34" charset="0"/>
              <a:ea typeface="Verdana" panose="020B0604030504040204" pitchFamily="34" charset="0"/>
            </a:endParaRPr>
          </a:p>
          <a:p>
            <a:br>
              <a:rPr lang="en-IN" sz="1000" dirty="0">
                <a:latin typeface="Verdana" panose="020B0604030504040204" pitchFamily="34" charset="0"/>
                <a:ea typeface="Verdana" panose="020B0604030504040204" pitchFamily="34" charset="0"/>
              </a:rPr>
            </a:br>
            <a:endParaRPr lang="en-IN" sz="1000" dirty="0">
              <a:latin typeface="Verdana" panose="020B0604030504040204" pitchFamily="34" charset="0"/>
              <a:ea typeface="Verdana" panose="020B0604030504040204" pitchFamily="34" charset="0"/>
            </a:endParaRPr>
          </a:p>
          <a:p>
            <a:r>
              <a:rPr lang="en-IN" sz="1000" b="1" dirty="0">
                <a:latin typeface="Verdana" panose="020B0604030504040204" pitchFamily="34" charset="0"/>
                <a:ea typeface="Verdana" panose="020B0604030504040204" pitchFamily="34" charset="0"/>
              </a:rPr>
              <a:t>10) File &amp; Report Management Module</a:t>
            </a:r>
          </a:p>
          <a:p>
            <a:r>
              <a:rPr lang="en-IN" sz="1000" b="1" dirty="0">
                <a:latin typeface="Verdana" panose="020B0604030504040204" pitchFamily="34" charset="0"/>
                <a:ea typeface="Verdana" panose="020B0604030504040204" pitchFamily="34" charset="0"/>
              </a:rPr>
              <a:t>Sub-modules:</a:t>
            </a:r>
            <a:endParaRPr lang="en-IN" sz="1000" dirty="0">
              <a:latin typeface="Verdana" panose="020B0604030504040204" pitchFamily="34" charset="0"/>
              <a:ea typeface="Verdana" panose="020B0604030504040204" pitchFamily="34" charset="0"/>
            </a:endParaRPr>
          </a:p>
          <a:p>
            <a:r>
              <a:rPr lang="en-IN" sz="1000" dirty="0">
                <a:latin typeface="Verdana" panose="020B0604030504040204" pitchFamily="34" charset="0"/>
                <a:ea typeface="Verdana" panose="020B0604030504040204" pitchFamily="34" charset="0"/>
              </a:rPr>
              <a:t>File/Image Upload System</a:t>
            </a:r>
          </a:p>
          <a:p>
            <a:r>
              <a:rPr lang="en-IN" sz="1000" dirty="0">
                <a:latin typeface="Verdana" panose="020B0604030504040204" pitchFamily="34" charset="0"/>
                <a:ea typeface="Verdana" panose="020B0604030504040204" pitchFamily="34" charset="0"/>
              </a:rPr>
              <a:t>Report Export &amp; Download</a:t>
            </a:r>
          </a:p>
          <a:p>
            <a:endParaRPr lang="en-IN" sz="1000" b="1" dirty="0">
              <a:latin typeface="Verdana" panose="020B0604030504040204" pitchFamily="34" charset="0"/>
              <a:ea typeface="Verdana" panose="020B0604030504040204" pitchFamily="34" charset="0"/>
            </a:endParaRPr>
          </a:p>
          <a:p>
            <a:endParaRPr lang="en-IN" sz="1000" b="1" dirty="0">
              <a:latin typeface="Verdana" panose="020B0604030504040204" pitchFamily="34" charset="0"/>
              <a:ea typeface="Verdana" panose="020B0604030504040204" pitchFamily="34" charset="0"/>
            </a:endParaRPr>
          </a:p>
          <a:p>
            <a:endParaRPr lang="en-IN" sz="1000" b="1" dirty="0">
              <a:latin typeface="Verdana" panose="020B0604030504040204" pitchFamily="34" charset="0"/>
              <a:ea typeface="Verdana" panose="020B0604030504040204" pitchFamily="34" charset="0"/>
            </a:endParaRPr>
          </a:p>
          <a:p>
            <a:endParaRPr lang="en-IN" sz="1000" b="1" dirty="0">
              <a:latin typeface="Verdana" panose="020B0604030504040204" pitchFamily="34" charset="0"/>
              <a:ea typeface="Verdana" panose="020B0604030504040204" pitchFamily="34" charset="0"/>
            </a:endParaRPr>
          </a:p>
          <a:p>
            <a:endParaRPr lang="en-IN" sz="1000" b="1" dirty="0">
              <a:latin typeface="Verdana" panose="020B0604030504040204" pitchFamily="34" charset="0"/>
              <a:ea typeface="Verdana" panose="020B0604030504040204" pitchFamily="34" charset="0"/>
            </a:endParaRPr>
          </a:p>
          <a:p>
            <a:endParaRPr lang="en-IN" sz="1000" b="1" dirty="0">
              <a:latin typeface="Verdana" panose="020B0604030504040204" pitchFamily="34" charset="0"/>
              <a:ea typeface="Verdana" panose="020B0604030504040204" pitchFamily="34" charset="0"/>
            </a:endParaRPr>
          </a:p>
          <a:p>
            <a:r>
              <a:rPr lang="en-IN" sz="1000" b="1" dirty="0">
                <a:latin typeface="Verdana" panose="020B0604030504040204" pitchFamily="34" charset="0"/>
                <a:ea typeface="Verdana" panose="020B0604030504040204" pitchFamily="34" charset="0"/>
              </a:rPr>
              <a:t>11) Security &amp; Authentication Module</a:t>
            </a:r>
          </a:p>
          <a:p>
            <a:r>
              <a:rPr lang="en-IN" sz="1000" b="1" dirty="0">
                <a:latin typeface="Verdana" panose="020B0604030504040204" pitchFamily="34" charset="0"/>
                <a:ea typeface="Verdana" panose="020B0604030504040204" pitchFamily="34" charset="0"/>
              </a:rPr>
              <a:t>Sub-modules:</a:t>
            </a:r>
            <a:endParaRPr lang="en-IN" sz="1000" dirty="0">
              <a:latin typeface="Verdana" panose="020B0604030504040204" pitchFamily="34" charset="0"/>
              <a:ea typeface="Verdana" panose="020B0604030504040204" pitchFamily="34" charset="0"/>
            </a:endParaRPr>
          </a:p>
          <a:p>
            <a:r>
              <a:rPr lang="en-IN" sz="1000" dirty="0">
                <a:latin typeface="Verdana" panose="020B0604030504040204" pitchFamily="34" charset="0"/>
                <a:ea typeface="Verdana" panose="020B0604030504040204" pitchFamily="34" charset="0"/>
              </a:rPr>
              <a:t>Token-Based Authentication</a:t>
            </a:r>
          </a:p>
          <a:p>
            <a:r>
              <a:rPr lang="en-IN" sz="1000" dirty="0">
                <a:latin typeface="Verdana" panose="020B0604030504040204" pitchFamily="34" charset="0"/>
                <a:ea typeface="Verdana" panose="020B0604030504040204" pitchFamily="34" charset="0"/>
              </a:rPr>
              <a:t>Data Encryption &amp; Access Control</a:t>
            </a:r>
          </a:p>
          <a:p>
            <a:br>
              <a:rPr lang="en-IN" sz="1000" dirty="0">
                <a:latin typeface="Verdana" panose="020B0604030504040204" pitchFamily="34" charset="0"/>
                <a:ea typeface="Verdana" panose="020B0604030504040204" pitchFamily="34" charset="0"/>
              </a:rPr>
            </a:br>
            <a:endParaRPr lang="en-IN" sz="1000" dirty="0">
              <a:latin typeface="Verdana" panose="020B0604030504040204" pitchFamily="34" charset="0"/>
              <a:ea typeface="Verdana" panose="020B0604030504040204" pitchFamily="34" charset="0"/>
            </a:endParaRPr>
          </a:p>
          <a:p>
            <a:endParaRPr lang="en-IN" sz="1000" b="1" dirty="0">
              <a:latin typeface="Verdana" panose="020B0604030504040204" pitchFamily="34" charset="0"/>
              <a:ea typeface="Verdana" panose="020B0604030504040204" pitchFamily="34" charset="0"/>
            </a:endParaRPr>
          </a:p>
          <a:p>
            <a:endParaRPr lang="en-IN" sz="1000" b="1" dirty="0">
              <a:latin typeface="Verdana" panose="020B0604030504040204" pitchFamily="34" charset="0"/>
              <a:ea typeface="Verdana" panose="020B0604030504040204" pitchFamily="34" charset="0"/>
            </a:endParaRPr>
          </a:p>
          <a:p>
            <a:endParaRPr lang="en-IN" sz="1000" b="1" dirty="0">
              <a:latin typeface="Verdana" panose="020B0604030504040204" pitchFamily="34" charset="0"/>
              <a:ea typeface="Verdana" panose="020B0604030504040204" pitchFamily="34" charset="0"/>
            </a:endParaRPr>
          </a:p>
          <a:p>
            <a:r>
              <a:rPr lang="en-IN" sz="1000" b="1" dirty="0">
                <a:latin typeface="Verdana" panose="020B0604030504040204" pitchFamily="34" charset="0"/>
                <a:ea typeface="Verdana" panose="020B0604030504040204" pitchFamily="34" charset="0"/>
              </a:rPr>
              <a:t>12) System Administration Module</a:t>
            </a:r>
          </a:p>
          <a:p>
            <a:r>
              <a:rPr lang="en-IN" sz="1000" b="1" dirty="0">
                <a:latin typeface="Verdana" panose="020B0604030504040204" pitchFamily="34" charset="0"/>
                <a:ea typeface="Verdana" panose="020B0604030504040204" pitchFamily="34" charset="0"/>
              </a:rPr>
              <a:t>Sub-modules:</a:t>
            </a:r>
            <a:endParaRPr lang="en-IN" sz="1000" dirty="0">
              <a:latin typeface="Verdana" panose="020B0604030504040204" pitchFamily="34" charset="0"/>
              <a:ea typeface="Verdana" panose="020B0604030504040204" pitchFamily="34" charset="0"/>
            </a:endParaRPr>
          </a:p>
          <a:p>
            <a:r>
              <a:rPr lang="en-IN" sz="1000" dirty="0">
                <a:latin typeface="Verdana" panose="020B0604030504040204" pitchFamily="34" charset="0"/>
                <a:ea typeface="Verdana" panose="020B0604030504040204" pitchFamily="34" charset="0"/>
              </a:rPr>
              <a:t>User &amp; System Configuration</a:t>
            </a:r>
          </a:p>
          <a:p>
            <a:r>
              <a:rPr lang="en-IN" sz="1000" dirty="0">
                <a:latin typeface="Verdana" panose="020B0604030504040204" pitchFamily="34" charset="0"/>
                <a:ea typeface="Verdana" panose="020B0604030504040204" pitchFamily="34" charset="0"/>
              </a:rPr>
              <a:t>Backup &amp; Database Maintenance</a:t>
            </a:r>
          </a:p>
          <a:p>
            <a:endParaRPr lang="en-IN"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IN" altLang="en-US" dirty="0">
                <a:latin typeface="Times New Roman" panose="02020603050405020304" pitchFamily="18" charset="0"/>
                <a:ea typeface="Cambria" panose="02040503050406030204" pitchFamily="18" charset="0"/>
                <a:cs typeface="Times New Roman" panose="02020603050405020304" pitchFamily="18" charset="0"/>
              </a:rPr>
              <a:t>Hardware and Software Requirements</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Autofit/>
          </a:bodyPr>
          <a:lstStyle/>
          <a:p>
            <a:pPr algn="just"/>
            <a:r>
              <a:rPr lang="en-IN" sz="1800" b="1" dirty="0">
                <a:latin typeface="Times New Roman" panose="02020603050405020304" pitchFamily="18" charset="0"/>
                <a:ea typeface="Cambria" panose="02040503050406030204" pitchFamily="18" charset="0"/>
                <a:cs typeface="Times New Roman" panose="02020603050405020304" pitchFamily="18" charset="0"/>
              </a:rPr>
              <a:t>Software Requirements:</a:t>
            </a:r>
            <a:endParaRPr lang="en-IN" sz="1800" dirty="0">
              <a:latin typeface="Times New Roman" panose="02020603050405020304" pitchFamily="18" charset="0"/>
              <a:ea typeface="Cambria" panose="02040503050406030204" pitchFamily="18" charset="0"/>
              <a:cs typeface="Times New Roman" panose="02020603050405020304" pitchFamily="18" charset="0"/>
            </a:endParaRPr>
          </a:p>
          <a:p>
            <a:pPr lvl="1" algn="just">
              <a:buFont typeface="Courier New" panose="02070309020205020404" pitchFamily="49" charset="0"/>
              <a:buChar char="o"/>
            </a:pPr>
            <a:r>
              <a:rPr lang="en-IN" sz="1800" b="1" dirty="0">
                <a:latin typeface="Times New Roman" panose="02020603050405020304" pitchFamily="18" charset="0"/>
                <a:ea typeface="Cambria" panose="02040503050406030204" pitchFamily="18" charset="0"/>
                <a:cs typeface="Times New Roman" panose="02020603050405020304" pitchFamily="18" charset="0"/>
              </a:rPr>
              <a:t>IDE:</a:t>
            </a:r>
            <a:r>
              <a:rPr lang="en-IN" sz="1800" dirty="0">
                <a:latin typeface="Times New Roman" panose="02020603050405020304" pitchFamily="18" charset="0"/>
                <a:ea typeface="Cambria" panose="02040503050406030204" pitchFamily="18" charset="0"/>
                <a:cs typeface="Times New Roman" panose="02020603050405020304" pitchFamily="18" charset="0"/>
              </a:rPr>
              <a:t> Visual Studio Code</a:t>
            </a:r>
          </a:p>
          <a:p>
            <a:pPr lvl="1" algn="just">
              <a:buFont typeface="Courier New" panose="02070309020205020404" pitchFamily="49" charset="0"/>
              <a:buChar char="o"/>
            </a:pPr>
            <a:r>
              <a:rPr lang="en-IN" sz="1800" b="1" dirty="0">
                <a:latin typeface="Times New Roman" panose="02020603050405020304" pitchFamily="18" charset="0"/>
                <a:ea typeface="Cambria" panose="02040503050406030204" pitchFamily="18" charset="0"/>
                <a:cs typeface="Times New Roman" panose="02020603050405020304" pitchFamily="18" charset="0"/>
              </a:rPr>
              <a:t>Runtime Environment:</a:t>
            </a:r>
            <a:r>
              <a:rPr lang="en-IN" sz="1800" dirty="0">
                <a:latin typeface="Times New Roman" panose="02020603050405020304" pitchFamily="18" charset="0"/>
                <a:ea typeface="Cambria" panose="02040503050406030204" pitchFamily="18" charset="0"/>
                <a:cs typeface="Times New Roman" panose="02020603050405020304" pitchFamily="18" charset="0"/>
              </a:rPr>
              <a:t> Node.js (v18.x or later)</a:t>
            </a:r>
          </a:p>
          <a:p>
            <a:pPr lvl="1" algn="just">
              <a:buFont typeface="Courier New" panose="02070309020205020404" pitchFamily="49" charset="0"/>
              <a:buChar char="o"/>
            </a:pPr>
            <a:r>
              <a:rPr lang="en-IN" sz="1800" b="1" dirty="0">
                <a:latin typeface="Times New Roman" panose="02020603050405020304" pitchFamily="18" charset="0"/>
                <a:ea typeface="Cambria" panose="02040503050406030204" pitchFamily="18" charset="0"/>
                <a:cs typeface="Times New Roman" panose="02020603050405020304" pitchFamily="18" charset="0"/>
              </a:rPr>
              <a:t>Frontend</a:t>
            </a:r>
            <a:r>
              <a:rPr lang="en-IN" sz="1800" dirty="0">
                <a:latin typeface="Times New Roman" panose="02020603050405020304" pitchFamily="18" charset="0"/>
                <a:ea typeface="Cambria" panose="02040503050406030204" pitchFamily="18" charset="0"/>
                <a:cs typeface="Times New Roman" panose="02020603050405020304" pitchFamily="18" charset="0"/>
              </a:rPr>
              <a:t>: </a:t>
            </a:r>
            <a:r>
              <a:rPr lang="en-IN" altLang="en-US" sz="1800" dirty="0">
                <a:latin typeface="Times New Roman" panose="02020603050405020304" pitchFamily="18" charset="0"/>
                <a:ea typeface="Cambria" panose="02040503050406030204" pitchFamily="18" charset="0"/>
                <a:cs typeface="Times New Roman" panose="02020603050405020304" pitchFamily="18" charset="0"/>
              </a:rPr>
              <a:t>React.js, HTML, CSS</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p>
            <a:pPr lvl="1" algn="just">
              <a:buFont typeface="Courier New" panose="02070309020205020404" pitchFamily="49" charset="0"/>
              <a:buChar char="o"/>
            </a:pPr>
            <a:r>
              <a:rPr lang="en-IN" sz="1800" b="1" dirty="0">
                <a:latin typeface="Times New Roman" panose="02020603050405020304" pitchFamily="18" charset="0"/>
                <a:ea typeface="Cambria" panose="02040503050406030204" pitchFamily="18" charset="0"/>
                <a:cs typeface="Times New Roman" panose="02020603050405020304" pitchFamily="18" charset="0"/>
              </a:rPr>
              <a:t>Backend &amp; Database: </a:t>
            </a:r>
            <a:r>
              <a:rPr lang="en-IN" sz="1800" dirty="0">
                <a:latin typeface="Times New Roman" panose="02020603050405020304" pitchFamily="18" charset="0"/>
                <a:ea typeface="Cambria" panose="02040503050406030204" pitchFamily="18" charset="0"/>
                <a:cs typeface="Times New Roman" panose="02020603050405020304" pitchFamily="18" charset="0"/>
              </a:rPr>
              <a:t>NodeJS, MySQL</a:t>
            </a:r>
          </a:p>
          <a:p>
            <a:pPr lvl="1" algn="just">
              <a:buFont typeface="Courier New" panose="02070309020205020404" pitchFamily="49" charset="0"/>
              <a:buChar char="o"/>
            </a:pPr>
            <a:r>
              <a:rPr lang="en-US" altLang="en-US" sz="1800" b="1" dirty="0">
                <a:latin typeface="Times New Roman" panose="02020603050405020304" pitchFamily="18" charset="0"/>
                <a:ea typeface="Cambria" panose="02040503050406030204" pitchFamily="18" charset="0"/>
                <a:cs typeface="Times New Roman" panose="02020603050405020304" pitchFamily="18" charset="0"/>
              </a:rPr>
              <a:t>APIs:</a:t>
            </a:r>
            <a:r>
              <a:rPr lang="en-US" altLang="en-US" sz="1800" dirty="0">
                <a:latin typeface="Times New Roman" panose="02020603050405020304" pitchFamily="18" charset="0"/>
                <a:ea typeface="Cambria" panose="02040503050406030204" pitchFamily="18" charset="0"/>
                <a:cs typeface="Times New Roman" panose="02020603050405020304" pitchFamily="18" charset="0"/>
              </a:rPr>
              <a:t> Weather, Soil, Satellite Imagery, AgriStack</a:t>
            </a:r>
          </a:p>
          <a:p>
            <a:pPr lvl="1" algn="just">
              <a:buFont typeface="Courier New" panose="02070309020205020404" pitchFamily="49" charset="0"/>
              <a:buChar char="o"/>
            </a:pPr>
            <a:r>
              <a:rPr lang="en-US" sz="1800" b="1" dirty="0">
                <a:latin typeface="Times New Roman" panose="02020603050405020304" pitchFamily="18" charset="0"/>
                <a:ea typeface="Cambria" panose="02040503050406030204" pitchFamily="18" charset="0"/>
                <a:cs typeface="Times New Roman" panose="02020603050405020304" pitchFamily="18" charset="0"/>
              </a:rPr>
              <a:t>Authentication: </a:t>
            </a:r>
            <a:r>
              <a:rPr lang="en-US" sz="1800" dirty="0">
                <a:latin typeface="Times New Roman" panose="02020603050405020304" pitchFamily="18" charset="0"/>
                <a:ea typeface="Cambria" panose="02040503050406030204" pitchFamily="18" charset="0"/>
                <a:cs typeface="Times New Roman" panose="02020603050405020304" pitchFamily="18" charset="0"/>
              </a:rPr>
              <a:t>JWT (HttpOnly cookies), bcrypt</a:t>
            </a:r>
            <a:endParaRPr lang="en-IN" sz="1800" dirty="0">
              <a:latin typeface="Times New Roman" panose="02020603050405020304" pitchFamily="18" charset="0"/>
              <a:ea typeface="Cambria" panose="02040503050406030204" pitchFamily="18" charset="0"/>
              <a:cs typeface="Times New Roman" panose="02020603050405020304" pitchFamily="18" charset="0"/>
            </a:endParaRPr>
          </a:p>
          <a:p>
            <a:pPr lvl="1" algn="just">
              <a:buFont typeface="Courier New" panose="02070309020205020404" pitchFamily="49" charset="0"/>
              <a:buChar char="o"/>
            </a:pPr>
            <a:r>
              <a:rPr lang="en-IN" sz="1800" b="1" dirty="0">
                <a:latin typeface="Times New Roman" panose="02020603050405020304" pitchFamily="18" charset="0"/>
                <a:ea typeface="Cambria" panose="02040503050406030204" pitchFamily="18" charset="0"/>
                <a:cs typeface="Times New Roman" panose="02020603050405020304" pitchFamily="18" charset="0"/>
              </a:rPr>
              <a:t>API Testing:</a:t>
            </a:r>
            <a:r>
              <a:rPr lang="en-IN" sz="1800" dirty="0">
                <a:latin typeface="Times New Roman" panose="02020603050405020304" pitchFamily="18" charset="0"/>
                <a:ea typeface="Cambria" panose="02040503050406030204" pitchFamily="18" charset="0"/>
                <a:cs typeface="Times New Roman" panose="02020603050405020304" pitchFamily="18" charset="0"/>
              </a:rPr>
              <a:t> Postman</a:t>
            </a:r>
          </a:p>
          <a:p>
            <a:pPr lvl="1" algn="just">
              <a:buFont typeface="Courier New" panose="02070309020205020404" pitchFamily="49" charset="0"/>
              <a:buChar char="o"/>
            </a:pPr>
            <a:r>
              <a:rPr lang="en-IN" sz="1800" b="1" dirty="0">
                <a:latin typeface="Times New Roman" panose="02020603050405020304" pitchFamily="18" charset="0"/>
                <a:ea typeface="Cambria" panose="02040503050406030204" pitchFamily="18" charset="0"/>
                <a:cs typeface="Times New Roman" panose="02020603050405020304" pitchFamily="18" charset="0"/>
              </a:rPr>
              <a:t>Version Control:</a:t>
            </a:r>
            <a:r>
              <a:rPr lang="en-IN" sz="1800" dirty="0">
                <a:latin typeface="Times New Roman" panose="02020603050405020304" pitchFamily="18" charset="0"/>
                <a:ea typeface="Cambria" panose="02040503050406030204" pitchFamily="18" charset="0"/>
                <a:cs typeface="Times New Roman" panose="02020603050405020304" pitchFamily="18" charset="0"/>
              </a:rPr>
              <a:t> Github</a:t>
            </a:r>
          </a:p>
          <a:p>
            <a:pPr marL="558800" lvl="1" indent="0" algn="just">
              <a:buNone/>
            </a:pPr>
            <a:endParaRPr lang="en-IN" sz="1800" dirty="0">
              <a:latin typeface="Times New Roman" panose="02020603050405020304" pitchFamily="18" charset="0"/>
              <a:ea typeface="Cambria" panose="02040503050406030204" pitchFamily="18" charset="0"/>
              <a:cs typeface="Times New Roman" panose="02020603050405020304" pitchFamily="18" charset="0"/>
            </a:endParaRPr>
          </a:p>
          <a:p>
            <a:pPr algn="just"/>
            <a:r>
              <a:rPr lang="en-IN" sz="1800" b="1" dirty="0">
                <a:latin typeface="Times New Roman" panose="02020603050405020304" pitchFamily="18" charset="0"/>
                <a:ea typeface="Cambria" panose="02040503050406030204" pitchFamily="18" charset="0"/>
                <a:cs typeface="Times New Roman" panose="02020603050405020304" pitchFamily="18" charset="0"/>
              </a:rPr>
              <a:t>Hardware Requirements:</a:t>
            </a:r>
            <a:endParaRPr lang="en-IN" sz="1800" dirty="0">
              <a:latin typeface="Times New Roman" panose="02020603050405020304" pitchFamily="18" charset="0"/>
              <a:ea typeface="Cambria" panose="02040503050406030204" pitchFamily="18" charset="0"/>
              <a:cs typeface="Times New Roman" panose="02020603050405020304" pitchFamily="18" charset="0"/>
            </a:endParaRPr>
          </a:p>
          <a:p>
            <a:pPr marL="558800" lvl="1" indent="0" algn="just">
              <a:buNone/>
            </a:pPr>
            <a:r>
              <a:rPr lang="en-IN" sz="1800" dirty="0">
                <a:latin typeface="Times New Roman" panose="02020603050405020304" pitchFamily="18" charset="0"/>
                <a:ea typeface="Cambria" panose="02040503050406030204" pitchFamily="18" charset="0"/>
                <a:cs typeface="Times New Roman" panose="02020603050405020304" pitchFamily="18" charset="0"/>
              </a:rPr>
              <a:t>No specialized hardware is required. A standard developer laptop with at least 8GB RAM and an internet connection is sufficient for development and deployment.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Times New Roman" panose="02020603050405020304" pitchFamily="18" charset="0"/>
                <a:ea typeface="Cambria" panose="02040503050406030204" pitchFamily="18" charset="0"/>
                <a:cs typeface="Times New Roman" panose="02020603050405020304" pitchFamily="18" charset="0"/>
              </a:rPr>
              <a:t>Timeline of the Project (Gantt Chart)</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2" name="Picture 1"/>
          <p:cNvPicPr>
            <a:picLocks noChangeAspect="1"/>
          </p:cNvPicPr>
          <p:nvPr/>
        </p:nvPicPr>
        <p:blipFill>
          <a:blip r:embed="rId4"/>
          <a:stretch>
            <a:fillRect/>
          </a:stretch>
        </p:blipFill>
        <p:spPr>
          <a:xfrm>
            <a:off x="2518410" y="1402080"/>
            <a:ext cx="7155180" cy="4053840"/>
          </a:xfrm>
          <a:prstGeom prst="rect">
            <a:avLst/>
          </a:prstGeom>
        </p:spPr>
      </p:pic>
    </p:spTree>
  </p:cSld>
  <p:clrMapOvr>
    <a:overrideClrMapping bg1="lt1" tx1="dk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REFERENCES</a:t>
            </a:r>
          </a:p>
        </p:txBody>
      </p:sp>
      <p:sp>
        <p:nvSpPr>
          <p:cNvPr id="3" name="Text Placeholder 2"/>
          <p:cNvSpPr>
            <a:spLocks noGrp="1"/>
          </p:cNvSpPr>
          <p:nvPr>
            <p:ph type="body" idx="1"/>
          </p:nvPr>
        </p:nvSpPr>
        <p:spPr/>
        <p:txBody>
          <a:bodyPr>
            <a:normAutofit fontScale="92500" lnSpcReduction="10000"/>
          </a:bodyPr>
          <a:lstStyle/>
          <a:p>
            <a:r>
              <a:rPr lang="en-IN" sz="2000" dirty="0"/>
              <a:t>[1] A. Sharma, R. Verma, and P. Singh, “IoT-based Smart Agriculture Monitoring System,” IEEE Access, vol. 10, pp. 45678–45689, 2022. </a:t>
            </a:r>
          </a:p>
          <a:p>
            <a:r>
              <a:rPr lang="en-IN" sz="2000" dirty="0"/>
              <a:t>[2] S. Patel and R. Kumar, “Crop Suggestion Based on Soil Data,” in Proceedings of the International Conference on Communication Systems and Network Technologies (CSNT 2012), vol. 21, no. 14, pp. 15832 15841, July 2022. </a:t>
            </a:r>
          </a:p>
          <a:p>
            <a:r>
              <a:rPr lang="en-IN" sz="2000" dirty="0"/>
              <a:t>[3] P. Ramesh, K. Rao, and S. Reddy, “Machine Learning Techniques for Precision Agriculture,” IEEE Transactions on Sustainable Computing, vol. 5, no. 3, pp. 234–245, 2020. </a:t>
            </a:r>
          </a:p>
          <a:p>
            <a:r>
              <a:rPr lang="en-IN" sz="2000" dirty="0"/>
              <a:t>[4] K. R. Arvind and N. Ananthi, “Crop Yield Prediction Using Machine Learning Algorithms,” International Journal of Engineering and Advanced Technology (IJEAT), vol. 10, no. 6S, pp. 281–284, Aug. 2019. </a:t>
            </a:r>
          </a:p>
          <a:p>
            <a:r>
              <a:rPr lang="en-IN" sz="2000" dirty="0"/>
              <a:t>[5] A. Sharma, A. Jain, P. Gupta, and V. Chowdary, “Machine Learning Applications for Precision Agriculture: A Comprehensive Review,” IEEE Access, vol. 9, pp. 4843–4873, Jan. 2021. </a:t>
            </a:r>
          </a:p>
          <a:p>
            <a:r>
              <a:rPr lang="en-IN" sz="2000" dirty="0"/>
              <a:t>[6] R. S. Jayashree, T. Praveena, and K. S. Karthik, “Smart Irrigation System Based on Internet of Things and Artificial Intelligence,” Journal of Ambient Intelligence and Humanized Computing, vol. 12, pp. 1231 1242, Mar. 2021. </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274196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8200F-9E91-701E-47BE-C56B3A9C3C2D}"/>
              </a:ext>
            </a:extLst>
          </p:cNvPr>
          <p:cNvSpPr>
            <a:spLocks noGrp="1"/>
          </p:cNvSpPr>
          <p:nvPr>
            <p:ph type="title"/>
          </p:nvPr>
        </p:nvSpPr>
        <p:spPr/>
        <p:txBody>
          <a:bodyPr/>
          <a:lstStyle/>
          <a:p>
            <a:r>
              <a:rPr lang="en-US" dirty="0">
                <a:latin typeface="Times New Roman" pitchFamily="18" charset="0"/>
                <a:cs typeface="Times New Roman" pitchFamily="18" charset="0"/>
              </a:rPr>
              <a:t>REFERENCES</a:t>
            </a:r>
            <a:endParaRPr lang="en-IN" dirty="0"/>
          </a:p>
        </p:txBody>
      </p:sp>
      <p:sp>
        <p:nvSpPr>
          <p:cNvPr id="3" name="Text Placeholder 2">
            <a:extLst>
              <a:ext uri="{FF2B5EF4-FFF2-40B4-BE49-F238E27FC236}">
                <a16:creationId xmlns:a16="http://schemas.microsoft.com/office/drawing/2014/main" id="{44F7D9E5-6C0A-2852-2063-68935CDF335F}"/>
              </a:ext>
            </a:extLst>
          </p:cNvPr>
          <p:cNvSpPr>
            <a:spLocks noGrp="1"/>
          </p:cNvSpPr>
          <p:nvPr>
            <p:ph type="body" idx="1"/>
          </p:nvPr>
        </p:nvSpPr>
        <p:spPr/>
        <p:txBody>
          <a:bodyPr>
            <a:normAutofit fontScale="77500" lnSpcReduction="20000"/>
          </a:bodyPr>
          <a:lstStyle/>
          <a:p>
            <a:r>
              <a:rPr lang="en-US" dirty="0"/>
              <a:t>[7] S. R. Patel and A. K. Shukla, “Soil Fertility Assessment and Crop Recommendation Using Data Mining Approach,” International Journal of Computer Applications, vol. 170, no. 7, pp. 5–10, July 2017. </a:t>
            </a:r>
          </a:p>
          <a:p>
            <a:r>
              <a:rPr lang="en-US" dirty="0"/>
              <a:t>[8] J. Li, J. Zhou, and H. Wang, “Real-Time Crop Monitoring System Based on IoT and Cloud Computing,” IEEE Internet of Things Journal, vol. 7, no. 9, pp. 8568–8577, Sept. 2020. </a:t>
            </a:r>
          </a:p>
          <a:p>
            <a:r>
              <a:rPr lang="en-US" dirty="0"/>
              <a:t>[9] M. Kamilaris, A. Kartakoullis, and F. X. Prenafeta-Boldú, “A Review on the Practice of Big Data Analysis in Agriculture,” IEEE Access, vol. 5, pp. 143–156, 2017. </a:t>
            </a:r>
          </a:p>
          <a:p>
            <a:r>
              <a:rPr lang="en-US" dirty="0"/>
              <a:t>[10] A. Khanna and S. Kaur, “Evolution of Internet of Things (IoT) and Its Significant Impact in the Field of Precision Agriculture,” IEEE Access, vol. 7, pp. 126305–126313, 2019. </a:t>
            </a:r>
          </a:p>
          <a:p>
            <a:r>
              <a:rPr lang="en-US" dirty="0"/>
              <a:t>[11] R. Ray, S. S. Dash, and A. De, “Internet of Things Based Smart Agriculture: Toward Making the Fields Talk,” in Proceedings of the IEEE International Conference on Intelligent Computing and Control Systems (ICICCS), pp. 541–546, 2018. </a:t>
            </a:r>
          </a:p>
          <a:p>
            <a:r>
              <a:rPr lang="en-US" dirty="0"/>
              <a:t>[12] S. Wolfert, L. Ge, C. </a:t>
            </a:r>
            <a:r>
              <a:rPr lang="en-US" dirty="0" err="1"/>
              <a:t>Verdouw</a:t>
            </a:r>
            <a:r>
              <a:rPr lang="en-US" dirty="0"/>
              <a:t>, and M. J. </a:t>
            </a:r>
            <a:r>
              <a:rPr lang="en-US" dirty="0" err="1"/>
              <a:t>Bogaardt</a:t>
            </a:r>
            <a:r>
              <a:rPr lang="en-US" dirty="0"/>
              <a:t>, “Big Data in Smart Farming: A Review,” IEEE Transactions on Industrial Informatics, vol. 13, no. 6, pp. 3097–3108, Dec. 2017</a:t>
            </a:r>
            <a:endParaRPr lang="en-IN" dirty="0"/>
          </a:p>
        </p:txBody>
      </p:sp>
    </p:spTree>
    <p:extLst>
      <p:ext uri="{BB962C8B-B14F-4D97-AF65-F5344CB8AC3E}">
        <p14:creationId xmlns:p14="http://schemas.microsoft.com/office/powerpoint/2010/main" val="14785623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78</TotalTime>
  <Words>2057</Words>
  <Application>Microsoft Office PowerPoint</Application>
  <PresentationFormat>Widescreen</PresentationFormat>
  <Paragraphs>272</Paragraphs>
  <Slides>17</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Bahnschrift Light Condensed</vt:lpstr>
      <vt:lpstr>Cambria</vt:lpstr>
      <vt:lpstr>Courier New</vt:lpstr>
      <vt:lpstr>Times New Roman</vt:lpstr>
      <vt:lpstr>Verdana</vt:lpstr>
      <vt:lpstr>Wingdings</vt:lpstr>
      <vt:lpstr>Bioinformatics</vt:lpstr>
      <vt:lpstr>Enhancing farmer productivity through innovative technology solutions</vt:lpstr>
      <vt:lpstr>CONTENT</vt:lpstr>
      <vt:lpstr>ABSTRACT</vt:lpstr>
      <vt:lpstr> PROBLEM STATEMENT </vt:lpstr>
      <vt:lpstr>LITERATURE SURVEY</vt:lpstr>
      <vt:lpstr>LITERATURE SURVEY</vt:lpstr>
      <vt:lpstr>OBJECTIVES</vt:lpstr>
      <vt:lpstr>METHODOLOGY</vt:lpstr>
      <vt:lpstr>Existing Methods and Drawbacks</vt:lpstr>
      <vt:lpstr>Proposed Method &amp; Feasibility Study</vt:lpstr>
      <vt:lpstr>Architecture Diagram</vt:lpstr>
      <vt:lpstr>MODULES</vt:lpstr>
      <vt:lpstr>Hardware and Software Requirements</vt:lpstr>
      <vt:lpstr>Timeline of the Project (Gantt Chart)</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vennapusadinesh202@gmail.com</cp:lastModifiedBy>
  <cp:revision>153</cp:revision>
  <dcterms:created xsi:type="dcterms:W3CDTF">2026-01-13T03:37:00Z</dcterms:created>
  <dcterms:modified xsi:type="dcterms:W3CDTF">2026-04-21T10:40:14Z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CA966597C7B84F1086EE4CDEEA6187D0_13</vt:lpwstr>
  </property>
  <property fmtid="{D5CDD505-2E9C-101B-9397-08002B2CF9AE}" pid="3" name="KSOProductBuildVer">
    <vt:lpwstr>1033-12.2.0.23196</vt:lpwstr>
  </property>
</Properties>
</file>